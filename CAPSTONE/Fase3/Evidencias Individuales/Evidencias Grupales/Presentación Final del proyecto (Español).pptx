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10287000" cx="18288000"/>
  <p:notesSz cx="6858000" cy="9144000"/>
  <p:embeddedFontLst>
    <p:embeddedFont>
      <p:font typeface="Arimo"/>
      <p:regular r:id="rId22"/>
      <p:bold r:id="rId23"/>
      <p:italic r:id="rId24"/>
      <p:boldItalic r:id="rId25"/>
    </p:embeddedFont>
    <p:embeddedFont>
      <p:font typeface="Bricolage Grotesque"/>
      <p:bold r:id="rId26"/>
    </p:embeddedFont>
    <p:embeddedFont>
      <p:font typeface="Open Sans"/>
      <p:bold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9" roundtripDataSignature="AMtx7miEtIzKFtMHMcBvFmfF+qob0YwY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CB9384-5609-4236-8647-3AE643B27037}">
  <a:tblStyle styleId="{62CB9384-5609-4236-8647-3AE643B2703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Arimo-regular.fntdata"/><Relationship Id="rId21" Type="http://schemas.openxmlformats.org/officeDocument/2006/relationships/slide" Target="slides/slide15.xml"/><Relationship Id="rId24" Type="http://schemas.openxmlformats.org/officeDocument/2006/relationships/font" Target="fonts/Arimo-italic.fntdata"/><Relationship Id="rId23" Type="http://schemas.openxmlformats.org/officeDocument/2006/relationships/font" Target="fonts/Arim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BricolageGrotesque-bold.fntdata"/><Relationship Id="rId25" Type="http://schemas.openxmlformats.org/officeDocument/2006/relationships/font" Target="fonts/Arimo-boldItalic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7.jpg"/><Relationship Id="rId4" Type="http://schemas.openxmlformats.org/officeDocument/2006/relationships/image" Target="../media/image23.png"/><Relationship Id="rId5" Type="http://schemas.openxmlformats.org/officeDocument/2006/relationships/image" Target="../media/image5.png"/><Relationship Id="rId6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jpg"/><Relationship Id="rId5" Type="http://schemas.openxmlformats.org/officeDocument/2006/relationships/image" Target="../media/image5.png"/><Relationship Id="rId6" Type="http://schemas.openxmlformats.org/officeDocument/2006/relationships/image" Target="../media/image11.jpg"/><Relationship Id="rId7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38.png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27.png"/><Relationship Id="rId10" Type="http://schemas.openxmlformats.org/officeDocument/2006/relationships/image" Target="../media/image29.png"/><Relationship Id="rId13" Type="http://schemas.openxmlformats.org/officeDocument/2006/relationships/image" Target="../media/image24.png"/><Relationship Id="rId1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34.png"/><Relationship Id="rId15" Type="http://schemas.openxmlformats.org/officeDocument/2006/relationships/image" Target="../media/image22.png"/><Relationship Id="rId1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36.png"/><Relationship Id="rId8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25.gif"/><Relationship Id="rId5" Type="http://schemas.openxmlformats.org/officeDocument/2006/relationships/image" Target="../media/image3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3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57" l="0" r="0" t="-9258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874060" y="7939373"/>
            <a:ext cx="1072946" cy="1105094"/>
          </a:xfrm>
          <a:custGeom>
            <a:rect b="b" l="l" r="r" t="t"/>
            <a:pathLst>
              <a:path extrusionOk="0" h="1105094" w="1072946">
                <a:moveTo>
                  <a:pt x="0" y="0"/>
                </a:moveTo>
                <a:lnTo>
                  <a:pt x="1072946" y="0"/>
                </a:lnTo>
                <a:lnTo>
                  <a:pt x="1072946" y="1105094"/>
                </a:lnTo>
                <a:lnTo>
                  <a:pt x="0" y="1105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-3091744" y="-614692"/>
            <a:ext cx="8240889" cy="8229600"/>
          </a:xfrm>
          <a:custGeom>
            <a:rect b="b" l="l" r="r" t="t"/>
            <a:pathLst>
              <a:path extrusionOk="0" h="8229600" w="8240889">
                <a:moveTo>
                  <a:pt x="0" y="0"/>
                </a:moveTo>
                <a:lnTo>
                  <a:pt x="8240888" y="0"/>
                </a:lnTo>
                <a:lnTo>
                  <a:pt x="824088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15147073" y="320471"/>
            <a:ext cx="2754895" cy="2754895"/>
          </a:xfrm>
          <a:custGeom>
            <a:rect b="b" l="l" r="r" t="t"/>
            <a:pathLst>
              <a:path extrusionOk="0" h="2754895" w="2754895">
                <a:moveTo>
                  <a:pt x="0" y="0"/>
                </a:moveTo>
                <a:lnTo>
                  <a:pt x="2754895" y="0"/>
                </a:lnTo>
                <a:lnTo>
                  <a:pt x="2754895" y="2754895"/>
                </a:lnTo>
                <a:lnTo>
                  <a:pt x="0" y="2754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 txBox="1"/>
          <p:nvPr/>
        </p:nvSpPr>
        <p:spPr>
          <a:xfrm>
            <a:off x="1874060" y="3142041"/>
            <a:ext cx="12023968" cy="1454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9" u="none" cap="none" strike="noStrik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MONEDAVENTURA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8406330" y="4618698"/>
            <a:ext cx="5115818" cy="524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19" u="none" cap="none" strike="noStrik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PRESENTACIÓN CAPSTONE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3542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2"/>
          <p:cNvGrpSpPr/>
          <p:nvPr/>
        </p:nvGrpSpPr>
        <p:grpSpPr>
          <a:xfrm>
            <a:off x="175" y="9501750"/>
            <a:ext cx="18287760" cy="785252"/>
            <a:chOff x="0" y="0"/>
            <a:chExt cx="5085584" cy="206814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5085584" cy="206814"/>
            </a:xfrm>
            <a:custGeom>
              <a:rect b="b" l="l" r="r" t="t"/>
              <a:pathLst>
                <a:path extrusionOk="0" h="206814" w="5085584">
                  <a:moveTo>
                    <a:pt x="0" y="0"/>
                  </a:moveTo>
                  <a:lnTo>
                    <a:pt x="5085584" y="0"/>
                  </a:lnTo>
                  <a:lnTo>
                    <a:pt x="5085584" y="206814"/>
                  </a:lnTo>
                  <a:lnTo>
                    <a:pt x="0" y="206814"/>
                  </a:lnTo>
                  <a:close/>
                </a:path>
              </a:pathLst>
            </a:custGeom>
            <a:solidFill>
              <a:srgbClr val="41CD57"/>
            </a:solidFill>
            <a:ln>
              <a:noFill/>
            </a:ln>
          </p:spPr>
        </p:sp>
        <p:sp>
          <p:nvSpPr>
            <p:cNvPr id="96" name="Google Shape;96;p2"/>
            <p:cNvSpPr txBox="1"/>
            <p:nvPr/>
          </p:nvSpPr>
          <p:spPr>
            <a:xfrm>
              <a:off x="0" y="9525"/>
              <a:ext cx="5085584" cy="197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99" u="none" cap="none" strike="noStrike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MONEDAVENTURA ::: 2025 :::</a:t>
              </a:r>
              <a:endParaRPr/>
            </a:p>
          </p:txBody>
        </p:sp>
      </p:grpSp>
      <p:grpSp>
        <p:nvGrpSpPr>
          <p:cNvPr id="97" name="Google Shape;97;p2"/>
          <p:cNvGrpSpPr/>
          <p:nvPr/>
        </p:nvGrpSpPr>
        <p:grpSpPr>
          <a:xfrm>
            <a:off x="1458465" y="4560312"/>
            <a:ext cx="4569668" cy="4305900"/>
            <a:chOff x="0" y="0"/>
            <a:chExt cx="1301876" cy="1226729"/>
          </a:xfrm>
        </p:grpSpPr>
        <p:sp>
          <p:nvSpPr>
            <p:cNvPr id="98" name="Google Shape;98;p2"/>
            <p:cNvSpPr/>
            <p:nvPr/>
          </p:nvSpPr>
          <p:spPr>
            <a:xfrm>
              <a:off x="0" y="0"/>
              <a:ext cx="1301875" cy="1226729"/>
            </a:xfrm>
            <a:custGeom>
              <a:rect b="b" l="l" r="r" t="t"/>
              <a:pathLst>
                <a:path extrusionOk="0" h="1226729" w="1301875">
                  <a:moveTo>
                    <a:pt x="33884" y="0"/>
                  </a:moveTo>
                  <a:lnTo>
                    <a:pt x="1267991" y="0"/>
                  </a:lnTo>
                  <a:cubicBezTo>
                    <a:pt x="1276978" y="0"/>
                    <a:pt x="1285597" y="3570"/>
                    <a:pt x="1291951" y="9924"/>
                  </a:cubicBezTo>
                  <a:cubicBezTo>
                    <a:pt x="1298306" y="16279"/>
                    <a:pt x="1301875" y="24897"/>
                    <a:pt x="1301875" y="33884"/>
                  </a:cubicBezTo>
                  <a:lnTo>
                    <a:pt x="1301875" y="1192845"/>
                  </a:lnTo>
                  <a:cubicBezTo>
                    <a:pt x="1301875" y="1201832"/>
                    <a:pt x="1298306" y="1210451"/>
                    <a:pt x="1291951" y="1216805"/>
                  </a:cubicBezTo>
                  <a:cubicBezTo>
                    <a:pt x="1285597" y="1223159"/>
                    <a:pt x="1276978" y="1226729"/>
                    <a:pt x="1267991" y="1226729"/>
                  </a:cubicBezTo>
                  <a:lnTo>
                    <a:pt x="33884" y="1226729"/>
                  </a:lnTo>
                  <a:cubicBezTo>
                    <a:pt x="24897" y="1226729"/>
                    <a:pt x="16279" y="1223159"/>
                    <a:pt x="9924" y="1216805"/>
                  </a:cubicBezTo>
                  <a:cubicBezTo>
                    <a:pt x="3570" y="1210451"/>
                    <a:pt x="0" y="1201832"/>
                    <a:pt x="0" y="1192845"/>
                  </a:cubicBezTo>
                  <a:lnTo>
                    <a:pt x="0" y="33884"/>
                  </a:lnTo>
                  <a:cubicBezTo>
                    <a:pt x="0" y="24897"/>
                    <a:pt x="3570" y="16279"/>
                    <a:pt x="9924" y="9924"/>
                  </a:cubicBezTo>
                  <a:cubicBezTo>
                    <a:pt x="16279" y="3570"/>
                    <a:pt x="24897" y="0"/>
                    <a:pt x="338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0" y="9525"/>
              <a:ext cx="1301876" cy="12172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9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2"/>
          <p:cNvSpPr/>
          <p:nvPr/>
        </p:nvSpPr>
        <p:spPr>
          <a:xfrm>
            <a:off x="2570350" y="2553375"/>
            <a:ext cx="2589689" cy="2690975"/>
          </a:xfrm>
          <a:custGeom>
            <a:rect b="b" l="l" r="r" t="t"/>
            <a:pathLst>
              <a:path extrusionOk="0" h="777177" w="698500">
                <a:moveTo>
                  <a:pt x="406324" y="15396"/>
                </a:moveTo>
                <a:lnTo>
                  <a:pt x="641426" y="152182"/>
                </a:lnTo>
                <a:cubicBezTo>
                  <a:pt x="676762" y="172741"/>
                  <a:pt x="698500" y="210539"/>
                  <a:pt x="698500" y="251420"/>
                </a:cubicBezTo>
                <a:lnTo>
                  <a:pt x="698500" y="525758"/>
                </a:lnTo>
                <a:cubicBezTo>
                  <a:pt x="698500" y="566639"/>
                  <a:pt x="676762" y="604437"/>
                  <a:pt x="641426" y="624996"/>
                </a:cubicBezTo>
                <a:lnTo>
                  <a:pt x="406324" y="761782"/>
                </a:lnTo>
                <a:cubicBezTo>
                  <a:pt x="371043" y="782309"/>
                  <a:pt x="327457" y="782309"/>
                  <a:pt x="292176" y="761782"/>
                </a:cubicBezTo>
                <a:lnTo>
                  <a:pt x="57074" y="624996"/>
                </a:lnTo>
                <a:cubicBezTo>
                  <a:pt x="21738" y="604437"/>
                  <a:pt x="0" y="566639"/>
                  <a:pt x="0" y="525758"/>
                </a:cubicBezTo>
                <a:lnTo>
                  <a:pt x="0" y="251420"/>
                </a:lnTo>
                <a:cubicBezTo>
                  <a:pt x="0" y="210539"/>
                  <a:pt x="21738" y="172741"/>
                  <a:pt x="57074" y="152182"/>
                </a:cubicBezTo>
                <a:lnTo>
                  <a:pt x="292176" y="15396"/>
                </a:lnTo>
                <a:cubicBezTo>
                  <a:pt x="327457" y="-5131"/>
                  <a:pt x="371043" y="-5131"/>
                  <a:pt x="406324" y="15396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5110" l="0" r="0" t="-8959"/>
            </a:stretch>
          </a:blipFill>
          <a:ln cap="rnd" cmpd="sng" w="66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1" name="Google Shape;101;p2"/>
          <p:cNvGrpSpPr/>
          <p:nvPr/>
        </p:nvGrpSpPr>
        <p:grpSpPr>
          <a:xfrm>
            <a:off x="6943752" y="4539257"/>
            <a:ext cx="4569668" cy="4305900"/>
            <a:chOff x="0" y="0"/>
            <a:chExt cx="1301876" cy="1226729"/>
          </a:xfrm>
        </p:grpSpPr>
        <p:sp>
          <p:nvSpPr>
            <p:cNvPr id="102" name="Google Shape;102;p2"/>
            <p:cNvSpPr/>
            <p:nvPr/>
          </p:nvSpPr>
          <p:spPr>
            <a:xfrm>
              <a:off x="0" y="0"/>
              <a:ext cx="1301875" cy="1226729"/>
            </a:xfrm>
            <a:custGeom>
              <a:rect b="b" l="l" r="r" t="t"/>
              <a:pathLst>
                <a:path extrusionOk="0" h="1226729" w="1301875">
                  <a:moveTo>
                    <a:pt x="33884" y="0"/>
                  </a:moveTo>
                  <a:lnTo>
                    <a:pt x="1267991" y="0"/>
                  </a:lnTo>
                  <a:cubicBezTo>
                    <a:pt x="1276978" y="0"/>
                    <a:pt x="1285597" y="3570"/>
                    <a:pt x="1291951" y="9924"/>
                  </a:cubicBezTo>
                  <a:cubicBezTo>
                    <a:pt x="1298306" y="16279"/>
                    <a:pt x="1301875" y="24897"/>
                    <a:pt x="1301875" y="33884"/>
                  </a:cubicBezTo>
                  <a:lnTo>
                    <a:pt x="1301875" y="1192845"/>
                  </a:lnTo>
                  <a:cubicBezTo>
                    <a:pt x="1301875" y="1201832"/>
                    <a:pt x="1298306" y="1210451"/>
                    <a:pt x="1291951" y="1216805"/>
                  </a:cubicBezTo>
                  <a:cubicBezTo>
                    <a:pt x="1285597" y="1223159"/>
                    <a:pt x="1276978" y="1226729"/>
                    <a:pt x="1267991" y="1226729"/>
                  </a:cubicBezTo>
                  <a:lnTo>
                    <a:pt x="33884" y="1226729"/>
                  </a:lnTo>
                  <a:cubicBezTo>
                    <a:pt x="24897" y="1226729"/>
                    <a:pt x="16279" y="1223159"/>
                    <a:pt x="9924" y="1216805"/>
                  </a:cubicBezTo>
                  <a:cubicBezTo>
                    <a:pt x="3570" y="1210451"/>
                    <a:pt x="0" y="1201832"/>
                    <a:pt x="0" y="1192845"/>
                  </a:cubicBezTo>
                  <a:lnTo>
                    <a:pt x="0" y="33884"/>
                  </a:lnTo>
                  <a:cubicBezTo>
                    <a:pt x="0" y="24897"/>
                    <a:pt x="3570" y="16279"/>
                    <a:pt x="9924" y="9924"/>
                  </a:cubicBezTo>
                  <a:cubicBezTo>
                    <a:pt x="16279" y="3570"/>
                    <a:pt x="24897" y="0"/>
                    <a:pt x="338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0" y="9525"/>
              <a:ext cx="1301876" cy="12172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9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2"/>
          <p:cNvSpPr/>
          <p:nvPr/>
        </p:nvSpPr>
        <p:spPr>
          <a:xfrm>
            <a:off x="7933512" y="2786479"/>
            <a:ext cx="2418218" cy="2690599"/>
          </a:xfrm>
          <a:custGeom>
            <a:rect b="b" l="l" r="r" t="t"/>
            <a:pathLst>
              <a:path extrusionOk="0" h="777177" w="698500">
                <a:moveTo>
                  <a:pt x="406324" y="15396"/>
                </a:moveTo>
                <a:lnTo>
                  <a:pt x="641426" y="152182"/>
                </a:lnTo>
                <a:cubicBezTo>
                  <a:pt x="676762" y="172741"/>
                  <a:pt x="698500" y="210539"/>
                  <a:pt x="698500" y="251420"/>
                </a:cubicBezTo>
                <a:lnTo>
                  <a:pt x="698500" y="525758"/>
                </a:lnTo>
                <a:cubicBezTo>
                  <a:pt x="698500" y="566639"/>
                  <a:pt x="676762" y="604437"/>
                  <a:pt x="641426" y="624996"/>
                </a:cubicBezTo>
                <a:lnTo>
                  <a:pt x="406324" y="761782"/>
                </a:lnTo>
                <a:cubicBezTo>
                  <a:pt x="371043" y="782309"/>
                  <a:pt x="327457" y="782309"/>
                  <a:pt x="292176" y="761782"/>
                </a:cubicBezTo>
                <a:lnTo>
                  <a:pt x="57074" y="624996"/>
                </a:lnTo>
                <a:cubicBezTo>
                  <a:pt x="21738" y="604437"/>
                  <a:pt x="0" y="566639"/>
                  <a:pt x="0" y="525758"/>
                </a:cubicBezTo>
                <a:lnTo>
                  <a:pt x="0" y="251420"/>
                </a:lnTo>
                <a:cubicBezTo>
                  <a:pt x="0" y="210539"/>
                  <a:pt x="21738" y="172741"/>
                  <a:pt x="57074" y="152182"/>
                </a:cubicBezTo>
                <a:lnTo>
                  <a:pt x="292176" y="15396"/>
                </a:lnTo>
                <a:cubicBezTo>
                  <a:pt x="327457" y="-5131"/>
                  <a:pt x="371043" y="-5131"/>
                  <a:pt x="406324" y="15396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2243" r="-2244" t="0"/>
            </a:stretch>
          </a:blipFill>
          <a:ln cap="rnd" cmpd="sng" w="66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-2814593" y="-4332764"/>
            <a:ext cx="6895577" cy="6886131"/>
          </a:xfrm>
          <a:custGeom>
            <a:rect b="b" l="l" r="r" t="t"/>
            <a:pathLst>
              <a:path extrusionOk="0" h="6886131" w="6895577">
                <a:moveTo>
                  <a:pt x="0" y="0"/>
                </a:moveTo>
                <a:lnTo>
                  <a:pt x="6895577" y="0"/>
                </a:lnTo>
                <a:lnTo>
                  <a:pt x="6895577" y="6886131"/>
                </a:lnTo>
                <a:lnTo>
                  <a:pt x="0" y="68861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6" name="Google Shape;106;p2"/>
          <p:cNvGrpSpPr/>
          <p:nvPr/>
        </p:nvGrpSpPr>
        <p:grpSpPr>
          <a:xfrm>
            <a:off x="12427819" y="4539257"/>
            <a:ext cx="4569668" cy="4305900"/>
            <a:chOff x="0" y="0"/>
            <a:chExt cx="1301876" cy="1226729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1301875" cy="1226729"/>
            </a:xfrm>
            <a:custGeom>
              <a:rect b="b" l="l" r="r" t="t"/>
              <a:pathLst>
                <a:path extrusionOk="0" h="1226729" w="1301875">
                  <a:moveTo>
                    <a:pt x="33884" y="0"/>
                  </a:moveTo>
                  <a:lnTo>
                    <a:pt x="1267991" y="0"/>
                  </a:lnTo>
                  <a:cubicBezTo>
                    <a:pt x="1276978" y="0"/>
                    <a:pt x="1285597" y="3570"/>
                    <a:pt x="1291951" y="9924"/>
                  </a:cubicBezTo>
                  <a:cubicBezTo>
                    <a:pt x="1298306" y="16279"/>
                    <a:pt x="1301875" y="24897"/>
                    <a:pt x="1301875" y="33884"/>
                  </a:cubicBezTo>
                  <a:lnTo>
                    <a:pt x="1301875" y="1192845"/>
                  </a:lnTo>
                  <a:cubicBezTo>
                    <a:pt x="1301875" y="1201832"/>
                    <a:pt x="1298306" y="1210451"/>
                    <a:pt x="1291951" y="1216805"/>
                  </a:cubicBezTo>
                  <a:cubicBezTo>
                    <a:pt x="1285597" y="1223159"/>
                    <a:pt x="1276978" y="1226729"/>
                    <a:pt x="1267991" y="1226729"/>
                  </a:cubicBezTo>
                  <a:lnTo>
                    <a:pt x="33884" y="1226729"/>
                  </a:lnTo>
                  <a:cubicBezTo>
                    <a:pt x="24897" y="1226729"/>
                    <a:pt x="16279" y="1223159"/>
                    <a:pt x="9924" y="1216805"/>
                  </a:cubicBezTo>
                  <a:cubicBezTo>
                    <a:pt x="3570" y="1210451"/>
                    <a:pt x="0" y="1201832"/>
                    <a:pt x="0" y="1192845"/>
                  </a:cubicBezTo>
                  <a:lnTo>
                    <a:pt x="0" y="33884"/>
                  </a:lnTo>
                  <a:cubicBezTo>
                    <a:pt x="0" y="24897"/>
                    <a:pt x="3570" y="16279"/>
                    <a:pt x="9924" y="9924"/>
                  </a:cubicBezTo>
                  <a:cubicBezTo>
                    <a:pt x="16279" y="3570"/>
                    <a:pt x="24897" y="0"/>
                    <a:pt x="338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9525"/>
              <a:ext cx="1301876" cy="12172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9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2"/>
          <p:cNvSpPr/>
          <p:nvPr/>
        </p:nvSpPr>
        <p:spPr>
          <a:xfrm>
            <a:off x="13296672" y="2765425"/>
            <a:ext cx="2418218" cy="2690599"/>
          </a:xfrm>
          <a:custGeom>
            <a:rect b="b" l="l" r="r" t="t"/>
            <a:pathLst>
              <a:path extrusionOk="0" h="777177" w="698500">
                <a:moveTo>
                  <a:pt x="406324" y="15396"/>
                </a:moveTo>
                <a:lnTo>
                  <a:pt x="641426" y="152182"/>
                </a:lnTo>
                <a:cubicBezTo>
                  <a:pt x="676762" y="172741"/>
                  <a:pt x="698500" y="210539"/>
                  <a:pt x="698500" y="251420"/>
                </a:cubicBezTo>
                <a:lnTo>
                  <a:pt x="698500" y="525758"/>
                </a:lnTo>
                <a:cubicBezTo>
                  <a:pt x="698500" y="566639"/>
                  <a:pt x="676762" y="604437"/>
                  <a:pt x="641426" y="624996"/>
                </a:cubicBezTo>
                <a:lnTo>
                  <a:pt x="406324" y="761782"/>
                </a:lnTo>
                <a:cubicBezTo>
                  <a:pt x="371043" y="782309"/>
                  <a:pt x="327457" y="782309"/>
                  <a:pt x="292176" y="761782"/>
                </a:cubicBezTo>
                <a:lnTo>
                  <a:pt x="57074" y="624996"/>
                </a:lnTo>
                <a:cubicBezTo>
                  <a:pt x="21738" y="604437"/>
                  <a:pt x="0" y="566639"/>
                  <a:pt x="0" y="525758"/>
                </a:cubicBezTo>
                <a:lnTo>
                  <a:pt x="0" y="251420"/>
                </a:lnTo>
                <a:cubicBezTo>
                  <a:pt x="0" y="210539"/>
                  <a:pt x="21738" y="172741"/>
                  <a:pt x="57074" y="152182"/>
                </a:cubicBezTo>
                <a:lnTo>
                  <a:pt x="292176" y="15396"/>
                </a:lnTo>
                <a:cubicBezTo>
                  <a:pt x="327457" y="-5131"/>
                  <a:pt x="371043" y="-5131"/>
                  <a:pt x="406324" y="15396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5629" r="-5630" t="0"/>
            </a:stretch>
          </a:blipFill>
          <a:ln cap="rnd" cmpd="sng" w="66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15691212" y="388986"/>
            <a:ext cx="1981402" cy="1981402"/>
          </a:xfrm>
          <a:custGeom>
            <a:rect b="b" l="l" r="r" t="t"/>
            <a:pathLst>
              <a:path extrusionOk="0" h="1981402" w="1981402">
                <a:moveTo>
                  <a:pt x="0" y="0"/>
                </a:moveTo>
                <a:lnTo>
                  <a:pt x="1981402" y="0"/>
                </a:lnTo>
                <a:lnTo>
                  <a:pt x="1981402" y="1981402"/>
                </a:lnTo>
                <a:lnTo>
                  <a:pt x="0" y="19814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2"/>
          <p:cNvSpPr txBox="1"/>
          <p:nvPr/>
        </p:nvSpPr>
        <p:spPr>
          <a:xfrm>
            <a:off x="7528965" y="6819366"/>
            <a:ext cx="3230069" cy="327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6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2890746" y="7154742"/>
            <a:ext cx="3230069" cy="327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6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1702718" y="159703"/>
            <a:ext cx="11533688" cy="15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Nuestro equipo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1580592" y="5431964"/>
            <a:ext cx="4397738" cy="77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Alberto Lefio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1910700" y="6306124"/>
            <a:ext cx="3737400" cy="1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41CD57"/>
                </a:solidFill>
                <a:latin typeface="Open Sans"/>
                <a:ea typeface="Open Sans"/>
                <a:cs typeface="Open Sans"/>
                <a:sym typeface="Open Sans"/>
              </a:rPr>
              <a:t>Líder de Proyecto / Desarrollador Backend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7080313" y="5431975"/>
            <a:ext cx="4209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Tyhara Mujica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7390609" y="6338036"/>
            <a:ext cx="3675952" cy="196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41CD57"/>
                </a:solidFill>
                <a:latin typeface="Open Sans"/>
                <a:ea typeface="Open Sans"/>
                <a:cs typeface="Open Sans"/>
                <a:sym typeface="Open Sans"/>
              </a:rPr>
              <a:t>Diseñador de Interfaz (UI/UX) / Desarrollador Frontend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12608176" y="5467225"/>
            <a:ext cx="4209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Kevin Ortega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12890744" y="6424324"/>
            <a:ext cx="323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41CD57"/>
                </a:solidFill>
                <a:latin typeface="Open Sans"/>
                <a:ea typeface="Open Sans"/>
                <a:cs typeface="Open Sans"/>
                <a:sym typeface="Open Sans"/>
              </a:rPr>
              <a:t>Analista / Tester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3"/>
          <p:cNvGrpSpPr/>
          <p:nvPr/>
        </p:nvGrpSpPr>
        <p:grpSpPr>
          <a:xfrm>
            <a:off x="7300864" y="4125169"/>
            <a:ext cx="9543163" cy="4795987"/>
            <a:chOff x="0" y="0"/>
            <a:chExt cx="635000" cy="319124"/>
          </a:xfrm>
        </p:grpSpPr>
        <p:sp>
          <p:nvSpPr>
            <p:cNvPr id="125" name="Google Shape;125;p3"/>
            <p:cNvSpPr/>
            <p:nvPr/>
          </p:nvSpPr>
          <p:spPr>
            <a:xfrm>
              <a:off x="0" y="0"/>
              <a:ext cx="635000" cy="319124"/>
            </a:xfrm>
            <a:custGeom>
              <a:rect b="b" l="l" r="r" t="t"/>
              <a:pathLst>
                <a:path extrusionOk="0" h="319124" w="635000">
                  <a:moveTo>
                    <a:pt x="25400" y="0"/>
                  </a:moveTo>
                  <a:lnTo>
                    <a:pt x="609600" y="0"/>
                  </a:lnTo>
                  <a:cubicBezTo>
                    <a:pt x="623628" y="0"/>
                    <a:pt x="635000" y="11372"/>
                    <a:pt x="635000" y="25400"/>
                  </a:cubicBezTo>
                  <a:lnTo>
                    <a:pt x="635000" y="293724"/>
                  </a:lnTo>
                  <a:cubicBezTo>
                    <a:pt x="635000" y="300460"/>
                    <a:pt x="632324" y="306921"/>
                    <a:pt x="627561" y="311684"/>
                  </a:cubicBezTo>
                  <a:cubicBezTo>
                    <a:pt x="622797" y="316448"/>
                    <a:pt x="616337" y="319124"/>
                    <a:pt x="609600" y="319124"/>
                  </a:cubicBezTo>
                  <a:lnTo>
                    <a:pt x="25400" y="319124"/>
                  </a:lnTo>
                  <a:cubicBezTo>
                    <a:pt x="11372" y="319124"/>
                    <a:pt x="0" y="307752"/>
                    <a:pt x="0" y="293724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41CD57"/>
            </a:solidFill>
            <a:ln cap="rnd" cmpd="sng" w="19050">
              <a:solidFill>
                <a:srgbClr val="0135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3"/>
            <p:cNvSpPr txBox="1"/>
            <p:nvPr/>
          </p:nvSpPr>
          <p:spPr>
            <a:xfrm>
              <a:off x="0" y="19050"/>
              <a:ext cx="635000" cy="3000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3"/>
          <p:cNvSpPr/>
          <p:nvPr/>
        </p:nvSpPr>
        <p:spPr>
          <a:xfrm>
            <a:off x="16117448" y="220699"/>
            <a:ext cx="1812810" cy="2197345"/>
          </a:xfrm>
          <a:custGeom>
            <a:rect b="b" l="l" r="r" t="t"/>
            <a:pathLst>
              <a:path extrusionOk="0" h="2197345" w="1812810">
                <a:moveTo>
                  <a:pt x="0" y="0"/>
                </a:moveTo>
                <a:lnTo>
                  <a:pt x="1812809" y="0"/>
                </a:lnTo>
                <a:lnTo>
                  <a:pt x="1812809" y="2197345"/>
                </a:lnTo>
                <a:lnTo>
                  <a:pt x="0" y="21973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3"/>
          <p:cNvSpPr/>
          <p:nvPr/>
        </p:nvSpPr>
        <p:spPr>
          <a:xfrm>
            <a:off x="0" y="-20771"/>
            <a:ext cx="6728245" cy="9522523"/>
          </a:xfrm>
          <a:custGeom>
            <a:rect b="b" l="l" r="r" t="t"/>
            <a:pathLst>
              <a:path extrusionOk="0" h="3911191" w="2763496">
                <a:moveTo>
                  <a:pt x="0" y="0"/>
                </a:moveTo>
                <a:lnTo>
                  <a:pt x="2131687" y="0"/>
                </a:lnTo>
                <a:cubicBezTo>
                  <a:pt x="2480197" y="0"/>
                  <a:pt x="2763496" y="400954"/>
                  <a:pt x="2763496" y="894203"/>
                </a:cubicBezTo>
                <a:lnTo>
                  <a:pt x="2763496" y="3911191"/>
                </a:lnTo>
                <a:lnTo>
                  <a:pt x="0" y="39111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991" l="0" r="0" t="-2991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7300864" y="349254"/>
            <a:ext cx="9045823" cy="3195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013542"/>
                </a:solidFill>
                <a:latin typeface="Open Sans"/>
                <a:ea typeface="Open Sans"/>
                <a:cs typeface="Open Sans"/>
                <a:sym typeface="Open Sans"/>
              </a:rPr>
              <a:t>Situación Actual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7390776" y="4683341"/>
            <a:ext cx="9363338" cy="3938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 Chile y Latinoamérica existe un bajo nivel de educación financiera en adultos.</a:t>
            </a:r>
            <a:endParaRPr/>
          </a:p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 falta de formación temprana afecta la capacidad de ahorro, presupuesto y decisiones responsables.</a:t>
            </a:r>
            <a:endParaRPr/>
          </a:p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 existen suficientes recursos digitales interactivos orientados a niños.</a:t>
            </a:r>
            <a:endParaRPr/>
          </a:p>
        </p:txBody>
      </p:sp>
      <p:grpSp>
        <p:nvGrpSpPr>
          <p:cNvPr id="131" name="Google Shape;131;p3"/>
          <p:cNvGrpSpPr/>
          <p:nvPr/>
        </p:nvGrpSpPr>
        <p:grpSpPr>
          <a:xfrm>
            <a:off x="0" y="9501750"/>
            <a:ext cx="18460219" cy="785674"/>
            <a:chOff x="0" y="0"/>
            <a:chExt cx="5085600" cy="206925"/>
          </a:xfrm>
        </p:grpSpPr>
        <p:sp>
          <p:nvSpPr>
            <p:cNvPr id="132" name="Google Shape;132;p3"/>
            <p:cNvSpPr/>
            <p:nvPr/>
          </p:nvSpPr>
          <p:spPr>
            <a:xfrm>
              <a:off x="0" y="0"/>
              <a:ext cx="5085584" cy="206814"/>
            </a:xfrm>
            <a:custGeom>
              <a:rect b="b" l="l" r="r" t="t"/>
              <a:pathLst>
                <a:path extrusionOk="0" h="206814" w="5085584">
                  <a:moveTo>
                    <a:pt x="0" y="0"/>
                  </a:moveTo>
                  <a:lnTo>
                    <a:pt x="5085584" y="0"/>
                  </a:lnTo>
                  <a:lnTo>
                    <a:pt x="5085584" y="206814"/>
                  </a:lnTo>
                  <a:lnTo>
                    <a:pt x="0" y="206814"/>
                  </a:lnTo>
                  <a:close/>
                </a:path>
              </a:pathLst>
            </a:custGeom>
            <a:solidFill>
              <a:srgbClr val="41CD57"/>
            </a:solidFill>
            <a:ln>
              <a:noFill/>
            </a:ln>
          </p:spPr>
        </p:sp>
        <p:sp>
          <p:nvSpPr>
            <p:cNvPr id="133" name="Google Shape;133;p3"/>
            <p:cNvSpPr txBox="1"/>
            <p:nvPr/>
          </p:nvSpPr>
          <p:spPr>
            <a:xfrm>
              <a:off x="0" y="9525"/>
              <a:ext cx="5085600" cy="1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99" u="none" cap="none" strike="noStrike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MONEDAVENTURA ::: 2025 :::</a:t>
              </a:r>
              <a:endParaRPr/>
            </a:p>
          </p:txBody>
        </p:sp>
      </p:grp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4"/>
          <p:cNvGrpSpPr/>
          <p:nvPr/>
        </p:nvGrpSpPr>
        <p:grpSpPr>
          <a:xfrm>
            <a:off x="7716137" y="3949639"/>
            <a:ext cx="9543163" cy="5133376"/>
            <a:chOff x="0" y="0"/>
            <a:chExt cx="635000" cy="341574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35000" cy="341574"/>
            </a:xfrm>
            <a:custGeom>
              <a:rect b="b" l="l" r="r" t="t"/>
              <a:pathLst>
                <a:path extrusionOk="0" h="341574" w="635000">
                  <a:moveTo>
                    <a:pt x="25400" y="0"/>
                  </a:moveTo>
                  <a:lnTo>
                    <a:pt x="609600" y="0"/>
                  </a:lnTo>
                  <a:cubicBezTo>
                    <a:pt x="623628" y="0"/>
                    <a:pt x="635000" y="11372"/>
                    <a:pt x="635000" y="25400"/>
                  </a:cubicBezTo>
                  <a:lnTo>
                    <a:pt x="635000" y="316174"/>
                  </a:lnTo>
                  <a:cubicBezTo>
                    <a:pt x="635000" y="322910"/>
                    <a:pt x="632324" y="329371"/>
                    <a:pt x="627561" y="334134"/>
                  </a:cubicBezTo>
                  <a:cubicBezTo>
                    <a:pt x="622797" y="338898"/>
                    <a:pt x="616337" y="341574"/>
                    <a:pt x="609600" y="341574"/>
                  </a:cubicBezTo>
                  <a:lnTo>
                    <a:pt x="25400" y="341574"/>
                  </a:lnTo>
                  <a:cubicBezTo>
                    <a:pt x="11372" y="341574"/>
                    <a:pt x="0" y="330202"/>
                    <a:pt x="0" y="316174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41CD57"/>
            </a:solidFill>
            <a:ln cap="rnd" cmpd="sng" w="19050">
              <a:solidFill>
                <a:srgbClr val="0135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9050"/>
              <a:ext cx="635000" cy="322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 rot="1264919">
            <a:off x="15446490" y="1752294"/>
            <a:ext cx="1812810" cy="2197345"/>
          </a:xfrm>
          <a:custGeom>
            <a:rect b="b" l="l" r="r" t="t"/>
            <a:pathLst>
              <a:path extrusionOk="0" h="2197345" w="1812810">
                <a:moveTo>
                  <a:pt x="0" y="0"/>
                </a:moveTo>
                <a:lnTo>
                  <a:pt x="1812810" y="0"/>
                </a:lnTo>
                <a:lnTo>
                  <a:pt x="1812810" y="2197345"/>
                </a:lnTo>
                <a:lnTo>
                  <a:pt x="0" y="21973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4"/>
          <p:cNvSpPr/>
          <p:nvPr/>
        </p:nvSpPr>
        <p:spPr>
          <a:xfrm>
            <a:off x="0" y="-20771"/>
            <a:ext cx="6728245" cy="9522523"/>
          </a:xfrm>
          <a:custGeom>
            <a:rect b="b" l="l" r="r" t="t"/>
            <a:pathLst>
              <a:path extrusionOk="0" h="3911191" w="2763496">
                <a:moveTo>
                  <a:pt x="0" y="0"/>
                </a:moveTo>
                <a:lnTo>
                  <a:pt x="2131687" y="0"/>
                </a:lnTo>
                <a:cubicBezTo>
                  <a:pt x="2480197" y="0"/>
                  <a:pt x="2763496" y="400954"/>
                  <a:pt x="2763496" y="894203"/>
                </a:cubicBezTo>
                <a:lnTo>
                  <a:pt x="2763496" y="3911191"/>
                </a:lnTo>
                <a:lnTo>
                  <a:pt x="0" y="39111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991" l="0" r="0" t="-2991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7955975" y="5429395"/>
            <a:ext cx="8592592" cy="362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6079069" y="335582"/>
            <a:ext cx="11180231" cy="3195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013542"/>
                </a:solidFill>
                <a:latin typeface="Open Sans"/>
                <a:ea typeface="Open Sans"/>
                <a:cs typeface="Open Sans"/>
                <a:sym typeface="Open Sans"/>
              </a:rPr>
              <a:t>Propuesta de solución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7833411" y="4288714"/>
            <a:ext cx="9308615" cy="4443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Desarrollar un juego digital educativo para niños entre 8 y 12 años.</a:t>
            </a:r>
            <a:endParaRPr/>
          </a:p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Incluir misiones, logros y niveles progresivos que enseñen conceptos básicos de ahorro, presupuesto y gasto responsable.</a:t>
            </a:r>
            <a:endParaRPr/>
          </a:p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Aplicar gamificación como estrategia pedagógica innovadora.</a:t>
            </a:r>
            <a:endParaRPr/>
          </a:p>
        </p:txBody>
      </p:sp>
      <p:grpSp>
        <p:nvGrpSpPr>
          <p:cNvPr id="146" name="Google Shape;146;p4"/>
          <p:cNvGrpSpPr/>
          <p:nvPr/>
        </p:nvGrpSpPr>
        <p:grpSpPr>
          <a:xfrm>
            <a:off x="0" y="9501750"/>
            <a:ext cx="18460219" cy="785674"/>
            <a:chOff x="0" y="0"/>
            <a:chExt cx="5085600" cy="206925"/>
          </a:xfrm>
        </p:grpSpPr>
        <p:sp>
          <p:nvSpPr>
            <p:cNvPr id="147" name="Google Shape;147;p4"/>
            <p:cNvSpPr/>
            <p:nvPr/>
          </p:nvSpPr>
          <p:spPr>
            <a:xfrm>
              <a:off x="0" y="0"/>
              <a:ext cx="5085584" cy="206814"/>
            </a:xfrm>
            <a:custGeom>
              <a:rect b="b" l="l" r="r" t="t"/>
              <a:pathLst>
                <a:path extrusionOk="0" h="206814" w="5085584">
                  <a:moveTo>
                    <a:pt x="0" y="0"/>
                  </a:moveTo>
                  <a:lnTo>
                    <a:pt x="5085584" y="0"/>
                  </a:lnTo>
                  <a:lnTo>
                    <a:pt x="5085584" y="206814"/>
                  </a:lnTo>
                  <a:lnTo>
                    <a:pt x="0" y="206814"/>
                  </a:lnTo>
                  <a:close/>
                </a:path>
              </a:pathLst>
            </a:custGeom>
            <a:solidFill>
              <a:srgbClr val="41CD57"/>
            </a:solidFill>
            <a:ln>
              <a:noFill/>
            </a:ln>
          </p:spPr>
        </p:sp>
        <p:sp>
          <p:nvSpPr>
            <p:cNvPr id="148" name="Google Shape;148;p4"/>
            <p:cNvSpPr txBox="1"/>
            <p:nvPr/>
          </p:nvSpPr>
          <p:spPr>
            <a:xfrm>
              <a:off x="0" y="9525"/>
              <a:ext cx="5085600" cy="1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99" u="none" cap="none" strike="noStrike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MONEDAVENTURA ::: 2025 :::</a:t>
              </a:r>
              <a:endParaRPr/>
            </a:p>
          </p:txBody>
        </p:sp>
      </p:grp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5"/>
          <p:cNvGrpSpPr/>
          <p:nvPr/>
        </p:nvGrpSpPr>
        <p:grpSpPr>
          <a:xfrm>
            <a:off x="-510663" y="9501752"/>
            <a:ext cx="19309326" cy="785248"/>
            <a:chOff x="0" y="0"/>
            <a:chExt cx="5085584" cy="206814"/>
          </a:xfrm>
        </p:grpSpPr>
        <p:sp>
          <p:nvSpPr>
            <p:cNvPr id="154" name="Google Shape;154;p5"/>
            <p:cNvSpPr/>
            <p:nvPr/>
          </p:nvSpPr>
          <p:spPr>
            <a:xfrm>
              <a:off x="0" y="0"/>
              <a:ext cx="5085584" cy="206814"/>
            </a:xfrm>
            <a:custGeom>
              <a:rect b="b" l="l" r="r" t="t"/>
              <a:pathLst>
                <a:path extrusionOk="0" h="206814" w="5085584">
                  <a:moveTo>
                    <a:pt x="0" y="0"/>
                  </a:moveTo>
                  <a:lnTo>
                    <a:pt x="5085584" y="0"/>
                  </a:lnTo>
                  <a:lnTo>
                    <a:pt x="5085584" y="206814"/>
                  </a:lnTo>
                  <a:lnTo>
                    <a:pt x="0" y="206814"/>
                  </a:lnTo>
                  <a:close/>
                </a:path>
              </a:pathLst>
            </a:custGeom>
            <a:solidFill>
              <a:srgbClr val="41CD57"/>
            </a:solidFill>
            <a:ln>
              <a:noFill/>
            </a:ln>
          </p:spPr>
        </p:sp>
        <p:sp>
          <p:nvSpPr>
            <p:cNvPr id="155" name="Google Shape;155;p5"/>
            <p:cNvSpPr txBox="1"/>
            <p:nvPr/>
          </p:nvSpPr>
          <p:spPr>
            <a:xfrm>
              <a:off x="0" y="9525"/>
              <a:ext cx="5085584" cy="197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99" u="none" cap="none" strike="noStrike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MONEDAVENTURA ::: 2025 :::</a:t>
              </a:r>
              <a:endParaRPr/>
            </a:p>
          </p:txBody>
        </p:sp>
      </p:grpSp>
      <p:graphicFrame>
        <p:nvGraphicFramePr>
          <p:cNvPr id="156" name="Google Shape;156;p5"/>
          <p:cNvGraphicFramePr/>
          <p:nvPr/>
        </p:nvGraphicFramePr>
        <p:xfrm>
          <a:off x="9930920" y="23391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{62CB9384-5609-4236-8647-3AE643B27037}</a:tableStyleId>
              </a:tblPr>
              <a:tblGrid>
                <a:gridCol w="7559350"/>
              </a:tblGrid>
              <a:tr h="6123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20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99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Desarrollar un juego digital educativo que fomente el aprendizaje de conceptos básicos de educación financiera en niños de 8 a 12 años, utilizando dinámicas lúdicas y gamificadas.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1354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1354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1354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1354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B467"/>
                    </a:solidFill>
                  </a:tcPr>
                </a:tc>
              </a:tr>
            </a:tbl>
          </a:graphicData>
        </a:graphic>
      </p:graphicFrame>
      <p:grpSp>
        <p:nvGrpSpPr>
          <p:cNvPr id="157" name="Google Shape;157;p5"/>
          <p:cNvGrpSpPr/>
          <p:nvPr/>
        </p:nvGrpSpPr>
        <p:grpSpPr>
          <a:xfrm>
            <a:off x="-1137978" y="0"/>
            <a:ext cx="10281978" cy="9501752"/>
            <a:chOff x="0" y="0"/>
            <a:chExt cx="2708011" cy="2502519"/>
          </a:xfrm>
        </p:grpSpPr>
        <p:sp>
          <p:nvSpPr>
            <p:cNvPr id="158" name="Google Shape;158;p5"/>
            <p:cNvSpPr/>
            <p:nvPr/>
          </p:nvSpPr>
          <p:spPr>
            <a:xfrm>
              <a:off x="0" y="0"/>
              <a:ext cx="2708011" cy="2502519"/>
            </a:xfrm>
            <a:custGeom>
              <a:rect b="b" l="l" r="r" t="t"/>
              <a:pathLst>
                <a:path extrusionOk="0" h="2502519" w="2708011">
                  <a:moveTo>
                    <a:pt x="0" y="0"/>
                  </a:moveTo>
                  <a:lnTo>
                    <a:pt x="2708011" y="0"/>
                  </a:lnTo>
                  <a:lnTo>
                    <a:pt x="2708011" y="2502519"/>
                  </a:lnTo>
                  <a:lnTo>
                    <a:pt x="0" y="2502519"/>
                  </a:lnTo>
                  <a:close/>
                </a:path>
              </a:pathLst>
            </a:custGeom>
            <a:solidFill>
              <a:srgbClr val="013542"/>
            </a:solidFill>
            <a:ln>
              <a:noFill/>
            </a:ln>
          </p:spPr>
        </p:sp>
        <p:sp>
          <p:nvSpPr>
            <p:cNvPr id="159" name="Google Shape;159;p5"/>
            <p:cNvSpPr txBox="1"/>
            <p:nvPr/>
          </p:nvSpPr>
          <p:spPr>
            <a:xfrm>
              <a:off x="0" y="9525"/>
              <a:ext cx="2708011" cy="24929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9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5"/>
          <p:cNvSpPr/>
          <p:nvPr/>
        </p:nvSpPr>
        <p:spPr>
          <a:xfrm>
            <a:off x="611370" y="724838"/>
            <a:ext cx="1577655" cy="1356783"/>
          </a:xfrm>
          <a:custGeom>
            <a:rect b="b" l="l" r="r" t="t"/>
            <a:pathLst>
              <a:path extrusionOk="0" h="1356783" w="1577655">
                <a:moveTo>
                  <a:pt x="0" y="0"/>
                </a:moveTo>
                <a:lnTo>
                  <a:pt x="1577655" y="0"/>
                </a:lnTo>
                <a:lnTo>
                  <a:pt x="1577655" y="1356784"/>
                </a:lnTo>
                <a:lnTo>
                  <a:pt x="0" y="1356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5"/>
          <p:cNvSpPr txBox="1"/>
          <p:nvPr/>
        </p:nvSpPr>
        <p:spPr>
          <a:xfrm>
            <a:off x="611370" y="2932093"/>
            <a:ext cx="7858299" cy="276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99" u="none" cap="none" strike="noStrik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Objetivo General</a:t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16439850" y="0"/>
            <a:ext cx="1717338" cy="2081622"/>
          </a:xfrm>
          <a:custGeom>
            <a:rect b="b" l="l" r="r" t="t"/>
            <a:pathLst>
              <a:path extrusionOk="0" h="2081622" w="1717338">
                <a:moveTo>
                  <a:pt x="0" y="0"/>
                </a:moveTo>
                <a:lnTo>
                  <a:pt x="1717338" y="0"/>
                </a:lnTo>
                <a:lnTo>
                  <a:pt x="1717338" y="2081622"/>
                </a:lnTo>
                <a:lnTo>
                  <a:pt x="0" y="20816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oogle Shape;167;p6"/>
          <p:cNvGrpSpPr/>
          <p:nvPr/>
        </p:nvGrpSpPr>
        <p:grpSpPr>
          <a:xfrm>
            <a:off x="0" y="9501750"/>
            <a:ext cx="18460161" cy="785252"/>
            <a:chOff x="0" y="0"/>
            <a:chExt cx="5085584" cy="206814"/>
          </a:xfrm>
        </p:grpSpPr>
        <p:sp>
          <p:nvSpPr>
            <p:cNvPr id="168" name="Google Shape;168;p6"/>
            <p:cNvSpPr/>
            <p:nvPr/>
          </p:nvSpPr>
          <p:spPr>
            <a:xfrm>
              <a:off x="0" y="0"/>
              <a:ext cx="5085584" cy="206814"/>
            </a:xfrm>
            <a:custGeom>
              <a:rect b="b" l="l" r="r" t="t"/>
              <a:pathLst>
                <a:path extrusionOk="0" h="206814" w="5085584">
                  <a:moveTo>
                    <a:pt x="0" y="0"/>
                  </a:moveTo>
                  <a:lnTo>
                    <a:pt x="5085584" y="0"/>
                  </a:lnTo>
                  <a:lnTo>
                    <a:pt x="5085584" y="206814"/>
                  </a:lnTo>
                  <a:lnTo>
                    <a:pt x="0" y="206814"/>
                  </a:lnTo>
                  <a:close/>
                </a:path>
              </a:pathLst>
            </a:custGeom>
            <a:solidFill>
              <a:srgbClr val="41CD57"/>
            </a:solidFill>
            <a:ln>
              <a:noFill/>
            </a:ln>
          </p:spPr>
        </p:sp>
        <p:sp>
          <p:nvSpPr>
            <p:cNvPr id="169" name="Google Shape;169;p6"/>
            <p:cNvSpPr txBox="1"/>
            <p:nvPr/>
          </p:nvSpPr>
          <p:spPr>
            <a:xfrm>
              <a:off x="0" y="9525"/>
              <a:ext cx="5085584" cy="197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99" u="none" cap="none" strike="noStrike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MONEDAVENTURA ::: 2025 :::</a:t>
              </a:r>
              <a:endParaRPr/>
            </a:p>
          </p:txBody>
        </p:sp>
      </p:grpSp>
      <p:grpSp>
        <p:nvGrpSpPr>
          <p:cNvPr id="170" name="Google Shape;170;p6"/>
          <p:cNvGrpSpPr/>
          <p:nvPr/>
        </p:nvGrpSpPr>
        <p:grpSpPr>
          <a:xfrm>
            <a:off x="10890764" y="0"/>
            <a:ext cx="7569166" cy="9501752"/>
            <a:chOff x="0" y="0"/>
            <a:chExt cx="1993525" cy="2502519"/>
          </a:xfrm>
        </p:grpSpPr>
        <p:sp>
          <p:nvSpPr>
            <p:cNvPr id="171" name="Google Shape;171;p6"/>
            <p:cNvSpPr/>
            <p:nvPr/>
          </p:nvSpPr>
          <p:spPr>
            <a:xfrm>
              <a:off x="0" y="0"/>
              <a:ext cx="1993525" cy="2502519"/>
            </a:xfrm>
            <a:custGeom>
              <a:rect b="b" l="l" r="r" t="t"/>
              <a:pathLst>
                <a:path extrusionOk="0" h="2502519" w="1993525">
                  <a:moveTo>
                    <a:pt x="0" y="0"/>
                  </a:moveTo>
                  <a:lnTo>
                    <a:pt x="1993525" y="0"/>
                  </a:lnTo>
                  <a:lnTo>
                    <a:pt x="1993525" y="2502519"/>
                  </a:lnTo>
                  <a:lnTo>
                    <a:pt x="0" y="2502519"/>
                  </a:lnTo>
                  <a:close/>
                </a:path>
              </a:pathLst>
            </a:custGeom>
            <a:solidFill>
              <a:srgbClr val="013542"/>
            </a:solidFill>
            <a:ln>
              <a:noFill/>
            </a:ln>
          </p:spPr>
        </p:sp>
        <p:sp>
          <p:nvSpPr>
            <p:cNvPr id="172" name="Google Shape;172;p6"/>
            <p:cNvSpPr txBox="1"/>
            <p:nvPr/>
          </p:nvSpPr>
          <p:spPr>
            <a:xfrm>
              <a:off x="0" y="9525"/>
              <a:ext cx="1993525" cy="24929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9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73" name="Google Shape;173;p6"/>
          <p:cNvGraphicFramePr/>
          <p:nvPr/>
        </p:nvGraphicFramePr>
        <p:xfrm>
          <a:off x="484257" y="17087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{62CB9384-5609-4236-8647-3AE643B27037}</a:tableStyleId>
              </a:tblPr>
              <a:tblGrid>
                <a:gridCol w="9846825"/>
              </a:tblGrid>
              <a:tr h="6343650">
                <a:tc>
                  <a:txBody>
                    <a:bodyPr/>
                    <a:lstStyle/>
                    <a:p>
                      <a:pPr indent="-291461" lvl="1" marL="582922" marR="0" rtl="0" algn="l">
                        <a:lnSpc>
                          <a:spcPct val="1220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699"/>
                        <a:buFont typeface="Arial"/>
                        <a:buChar char="•"/>
                      </a:pPr>
                      <a:r>
                        <a:rPr b="1" lang="en-US" sz="2699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Diseñar una interfaz atractiva e intuitiva orientada al público infantil.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299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  <a:p>
                      <a:pPr indent="-291461" lvl="1" marL="582922" marR="0" rtl="0" algn="l">
                        <a:lnSpc>
                          <a:spcPct val="1220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699"/>
                        <a:buFont typeface="Arial"/>
                        <a:buChar char="•"/>
                      </a:pPr>
                      <a:r>
                        <a:rPr b="1" lang="en-US" sz="2699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Implementar un sistema de misiones y logros que refuercen la toma de decisiones financieras.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220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699" u="none" cap="none" strike="noStrike">
                        <a:solidFill>
                          <a:srgbClr val="FFFFFF"/>
                        </a:solidFill>
                        <a:latin typeface="Bricolage Grotesque"/>
                        <a:ea typeface="Bricolage Grotesque"/>
                        <a:cs typeface="Bricolage Grotesque"/>
                        <a:sym typeface="Bricolage Grotesque"/>
                      </a:endParaRPr>
                    </a:p>
                    <a:p>
                      <a:pPr indent="-291461" lvl="1" marL="582922" marR="0" rtl="0" algn="l">
                        <a:lnSpc>
                          <a:spcPct val="1220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699"/>
                        <a:buFont typeface="Arial"/>
                        <a:buChar char="•"/>
                      </a:pPr>
                      <a:r>
                        <a:rPr b="1" lang="en-US" sz="2699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Desarrollar niveles progresivos que aborden ahorro, presupuesto y gastos responsables.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220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699" u="none" cap="none" strike="noStrike">
                        <a:solidFill>
                          <a:srgbClr val="FFFFFF"/>
                        </a:solidFill>
                        <a:latin typeface="Bricolage Grotesque"/>
                        <a:ea typeface="Bricolage Grotesque"/>
                        <a:cs typeface="Bricolage Grotesque"/>
                        <a:sym typeface="Bricolage Grotesque"/>
                      </a:endParaRPr>
                    </a:p>
                    <a:p>
                      <a:pPr indent="-291461" lvl="1" marL="582922" marR="0" rtl="0" algn="l">
                        <a:lnSpc>
                          <a:spcPct val="1220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699"/>
                        <a:buFont typeface="Arial"/>
                        <a:buChar char="•"/>
                      </a:pPr>
                      <a:r>
                        <a:rPr b="1" lang="en-US" sz="2699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Validar la usabilidad del prototipo mediante pruebas con usuarios reales o simulados.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220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699" u="none" cap="none" strike="noStrike">
                        <a:solidFill>
                          <a:srgbClr val="FFFFFF"/>
                        </a:solidFill>
                        <a:latin typeface="Bricolage Grotesque"/>
                        <a:ea typeface="Bricolage Grotesque"/>
                        <a:cs typeface="Bricolage Grotesque"/>
                        <a:sym typeface="Bricolage Grotesque"/>
                      </a:endParaRPr>
                    </a:p>
                    <a:p>
                      <a:pPr indent="-291461" lvl="1" marL="582922" marR="0" rtl="0" algn="l">
                        <a:lnSpc>
                          <a:spcPct val="1220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699"/>
                        <a:buFont typeface="Arial"/>
                        <a:buChar char="•"/>
                      </a:pPr>
                      <a:r>
                        <a:rPr b="1" lang="en-US" sz="2699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Documentar el proceso de desarrollo aplicando metodologías ágiles.</a:t>
                      </a:r>
                      <a:endParaRPr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1354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1354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1354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1354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B467"/>
                    </a:solidFill>
                  </a:tcPr>
                </a:tc>
              </a:tr>
            </a:tbl>
          </a:graphicData>
        </a:graphic>
      </p:graphicFrame>
      <p:sp>
        <p:nvSpPr>
          <p:cNvPr id="174" name="Google Shape;174;p6"/>
          <p:cNvSpPr/>
          <p:nvPr/>
        </p:nvSpPr>
        <p:spPr>
          <a:xfrm>
            <a:off x="15511906" y="350308"/>
            <a:ext cx="1577655" cy="1356783"/>
          </a:xfrm>
          <a:custGeom>
            <a:rect b="b" l="l" r="r" t="t"/>
            <a:pathLst>
              <a:path extrusionOk="0" h="1356783" w="1577655">
                <a:moveTo>
                  <a:pt x="0" y="0"/>
                </a:moveTo>
                <a:lnTo>
                  <a:pt x="1577655" y="0"/>
                </a:lnTo>
                <a:lnTo>
                  <a:pt x="1577655" y="1356784"/>
                </a:lnTo>
                <a:lnTo>
                  <a:pt x="0" y="1356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6"/>
          <p:cNvSpPr/>
          <p:nvPr/>
        </p:nvSpPr>
        <p:spPr>
          <a:xfrm>
            <a:off x="484252" y="1"/>
            <a:ext cx="1600371" cy="1551711"/>
          </a:xfrm>
          <a:custGeom>
            <a:rect b="b" l="l" r="r" t="t"/>
            <a:pathLst>
              <a:path extrusionOk="0" h="2162664" w="2162664">
                <a:moveTo>
                  <a:pt x="0" y="0"/>
                </a:moveTo>
                <a:lnTo>
                  <a:pt x="2162664" y="0"/>
                </a:lnTo>
                <a:lnTo>
                  <a:pt x="2162664" y="2162664"/>
                </a:lnTo>
                <a:lnTo>
                  <a:pt x="0" y="21626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p6"/>
          <p:cNvSpPr txBox="1"/>
          <p:nvPr/>
        </p:nvSpPr>
        <p:spPr>
          <a:xfrm>
            <a:off x="11161693" y="3258249"/>
            <a:ext cx="7858299" cy="3061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99" u="none" cap="none" strike="noStrik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Objetivo específico</a:t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9111476" y="0"/>
            <a:ext cx="1778153" cy="1553396"/>
          </a:xfrm>
          <a:custGeom>
            <a:rect b="b" l="l" r="r" t="t"/>
            <a:pathLst>
              <a:path extrusionOk="0" h="1941745" w="1601940">
                <a:moveTo>
                  <a:pt x="0" y="0"/>
                </a:moveTo>
                <a:lnTo>
                  <a:pt x="1601940" y="0"/>
                </a:lnTo>
                <a:lnTo>
                  <a:pt x="1601940" y="1941745"/>
                </a:lnTo>
                <a:lnTo>
                  <a:pt x="0" y="19417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"/>
          <p:cNvSpPr/>
          <p:nvPr/>
        </p:nvSpPr>
        <p:spPr>
          <a:xfrm>
            <a:off x="157619" y="220699"/>
            <a:ext cx="1742162" cy="1173782"/>
          </a:xfrm>
          <a:custGeom>
            <a:rect b="b" l="l" r="r" t="t"/>
            <a:pathLst>
              <a:path extrusionOk="0" h="1173782" w="1742162">
                <a:moveTo>
                  <a:pt x="0" y="0"/>
                </a:moveTo>
                <a:lnTo>
                  <a:pt x="1742162" y="0"/>
                </a:lnTo>
                <a:lnTo>
                  <a:pt x="1742162" y="1173782"/>
                </a:lnTo>
                <a:lnTo>
                  <a:pt x="0" y="11737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7"/>
          <p:cNvSpPr/>
          <p:nvPr/>
        </p:nvSpPr>
        <p:spPr>
          <a:xfrm>
            <a:off x="16117448" y="220699"/>
            <a:ext cx="1812810" cy="2197345"/>
          </a:xfrm>
          <a:custGeom>
            <a:rect b="b" l="l" r="r" t="t"/>
            <a:pathLst>
              <a:path extrusionOk="0" h="2197345" w="1812810">
                <a:moveTo>
                  <a:pt x="0" y="0"/>
                </a:moveTo>
                <a:lnTo>
                  <a:pt x="1812809" y="0"/>
                </a:lnTo>
                <a:lnTo>
                  <a:pt x="1812809" y="2197345"/>
                </a:lnTo>
                <a:lnTo>
                  <a:pt x="0" y="21973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7"/>
          <p:cNvSpPr/>
          <p:nvPr/>
        </p:nvSpPr>
        <p:spPr>
          <a:xfrm flipH="1">
            <a:off x="615058" y="7060955"/>
            <a:ext cx="1812810" cy="2197345"/>
          </a:xfrm>
          <a:custGeom>
            <a:rect b="b" l="l" r="r" t="t"/>
            <a:pathLst>
              <a:path extrusionOk="0" h="2197345" w="1812810">
                <a:moveTo>
                  <a:pt x="1812810" y="0"/>
                </a:moveTo>
                <a:lnTo>
                  <a:pt x="0" y="0"/>
                </a:lnTo>
                <a:lnTo>
                  <a:pt x="0" y="2197345"/>
                </a:lnTo>
                <a:lnTo>
                  <a:pt x="1812810" y="2197345"/>
                </a:lnTo>
                <a:lnTo>
                  <a:pt x="181281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7"/>
          <p:cNvSpPr/>
          <p:nvPr/>
        </p:nvSpPr>
        <p:spPr>
          <a:xfrm>
            <a:off x="2363197" y="2768465"/>
            <a:ext cx="13561607" cy="5560259"/>
          </a:xfrm>
          <a:custGeom>
            <a:rect b="b" l="l" r="r" t="t"/>
            <a:pathLst>
              <a:path extrusionOk="0" h="5560259" w="13561607">
                <a:moveTo>
                  <a:pt x="0" y="0"/>
                </a:moveTo>
                <a:lnTo>
                  <a:pt x="13561606" y="0"/>
                </a:lnTo>
                <a:lnTo>
                  <a:pt x="13561606" y="5560259"/>
                </a:lnTo>
                <a:lnTo>
                  <a:pt x="0" y="55602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7"/>
          <p:cNvSpPr txBox="1"/>
          <p:nvPr/>
        </p:nvSpPr>
        <p:spPr>
          <a:xfrm>
            <a:off x="4980209" y="519113"/>
            <a:ext cx="8898655" cy="1076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99" u="none" cap="none" strike="noStrike">
                <a:solidFill>
                  <a:srgbClr val="01354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CRONOGRAMA</a:t>
            </a:r>
            <a:endParaRPr/>
          </a:p>
        </p:txBody>
      </p:sp>
      <p:sp>
        <p:nvSpPr>
          <p:cNvPr id="187" name="Google Shape;187;p7"/>
          <p:cNvSpPr txBox="1"/>
          <p:nvPr/>
        </p:nvSpPr>
        <p:spPr>
          <a:xfrm>
            <a:off x="7722900" y="4647848"/>
            <a:ext cx="3070058" cy="295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13542"/>
                </a:solidFill>
                <a:latin typeface="Open Sans"/>
                <a:ea typeface="Open Sans"/>
                <a:cs typeface="Open Sans"/>
                <a:sym typeface="Open Sans"/>
              </a:rPr>
              <a:t>Implementar el primer nivel completamente funcional y sistema básico del juego.</a:t>
            </a:r>
            <a:endParaRPr/>
          </a:p>
        </p:txBody>
      </p:sp>
      <p:sp>
        <p:nvSpPr>
          <p:cNvPr id="188" name="Google Shape;188;p7"/>
          <p:cNvSpPr txBox="1"/>
          <p:nvPr/>
        </p:nvSpPr>
        <p:spPr>
          <a:xfrm>
            <a:off x="12345534" y="4647848"/>
            <a:ext cx="3070058" cy="246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13542"/>
                </a:solidFill>
                <a:latin typeface="Open Sans"/>
                <a:ea typeface="Open Sans"/>
                <a:cs typeface="Open Sans"/>
                <a:sym typeface="Open Sans"/>
              </a:rPr>
              <a:t>Completar niveles adicionales, realizar pruebas y entregar versión final.</a:t>
            </a:r>
            <a:endParaRPr/>
          </a:p>
        </p:txBody>
      </p:sp>
      <p:sp>
        <p:nvSpPr>
          <p:cNvPr id="189" name="Google Shape;189;p7"/>
          <p:cNvSpPr txBox="1"/>
          <p:nvPr/>
        </p:nvSpPr>
        <p:spPr>
          <a:xfrm>
            <a:off x="7608971" y="3555365"/>
            <a:ext cx="3070058" cy="77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013542"/>
                </a:solidFill>
                <a:latin typeface="Open Sans"/>
                <a:ea typeface="Open Sans"/>
                <a:cs typeface="Open Sans"/>
                <a:sym typeface="Open Sans"/>
              </a:rPr>
              <a:t>2 - Sprint</a:t>
            </a:r>
            <a:endParaRPr/>
          </a:p>
        </p:txBody>
      </p:sp>
      <p:sp>
        <p:nvSpPr>
          <p:cNvPr id="190" name="Google Shape;190;p7"/>
          <p:cNvSpPr txBox="1"/>
          <p:nvPr/>
        </p:nvSpPr>
        <p:spPr>
          <a:xfrm>
            <a:off x="12298279" y="3555365"/>
            <a:ext cx="3070058" cy="77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013542"/>
                </a:solidFill>
                <a:latin typeface="Open Sans"/>
                <a:ea typeface="Open Sans"/>
                <a:cs typeface="Open Sans"/>
                <a:sym typeface="Open Sans"/>
              </a:rPr>
              <a:t>3 - Sprint</a:t>
            </a:r>
            <a:endParaRPr/>
          </a:p>
        </p:txBody>
      </p:sp>
      <p:sp>
        <p:nvSpPr>
          <p:cNvPr id="191" name="Google Shape;191;p7"/>
          <p:cNvSpPr txBox="1"/>
          <p:nvPr/>
        </p:nvSpPr>
        <p:spPr>
          <a:xfrm>
            <a:off x="2919662" y="3555365"/>
            <a:ext cx="3070058" cy="77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013542"/>
                </a:solidFill>
                <a:latin typeface="Open Sans"/>
                <a:ea typeface="Open Sans"/>
                <a:cs typeface="Open Sans"/>
                <a:sym typeface="Open Sans"/>
              </a:rPr>
              <a:t>1 - Sprint</a:t>
            </a:r>
            <a:endParaRPr/>
          </a:p>
        </p:txBody>
      </p:sp>
      <p:sp>
        <p:nvSpPr>
          <p:cNvPr id="192" name="Google Shape;192;p7"/>
          <p:cNvSpPr txBox="1"/>
          <p:nvPr/>
        </p:nvSpPr>
        <p:spPr>
          <a:xfrm>
            <a:off x="2805619" y="4647848"/>
            <a:ext cx="3366406" cy="295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13542"/>
                </a:solidFill>
                <a:latin typeface="Open Sans"/>
                <a:ea typeface="Open Sans"/>
                <a:cs typeface="Open Sans"/>
                <a:sym typeface="Open Sans"/>
              </a:rPr>
              <a:t>Definir requisitos, diseñar la experiencia del usuario y establecer la base del proyecto.</a:t>
            </a:r>
            <a:endParaRPr/>
          </a:p>
        </p:txBody>
      </p:sp>
      <p:grpSp>
        <p:nvGrpSpPr>
          <p:cNvPr id="193" name="Google Shape;193;p7"/>
          <p:cNvGrpSpPr/>
          <p:nvPr/>
        </p:nvGrpSpPr>
        <p:grpSpPr>
          <a:xfrm>
            <a:off x="0" y="9501750"/>
            <a:ext cx="18460219" cy="785674"/>
            <a:chOff x="0" y="0"/>
            <a:chExt cx="5085600" cy="206925"/>
          </a:xfrm>
        </p:grpSpPr>
        <p:sp>
          <p:nvSpPr>
            <p:cNvPr id="194" name="Google Shape;194;p7"/>
            <p:cNvSpPr/>
            <p:nvPr/>
          </p:nvSpPr>
          <p:spPr>
            <a:xfrm>
              <a:off x="0" y="0"/>
              <a:ext cx="5085584" cy="206814"/>
            </a:xfrm>
            <a:custGeom>
              <a:rect b="b" l="l" r="r" t="t"/>
              <a:pathLst>
                <a:path extrusionOk="0" h="206814" w="5085584">
                  <a:moveTo>
                    <a:pt x="0" y="0"/>
                  </a:moveTo>
                  <a:lnTo>
                    <a:pt x="5085584" y="0"/>
                  </a:lnTo>
                  <a:lnTo>
                    <a:pt x="5085584" y="206814"/>
                  </a:lnTo>
                  <a:lnTo>
                    <a:pt x="0" y="206814"/>
                  </a:lnTo>
                  <a:close/>
                </a:path>
              </a:pathLst>
            </a:custGeom>
            <a:solidFill>
              <a:srgbClr val="41CD57"/>
            </a:solidFill>
            <a:ln>
              <a:noFill/>
            </a:ln>
          </p:spPr>
        </p:sp>
        <p:sp>
          <p:nvSpPr>
            <p:cNvPr id="195" name="Google Shape;195;p7"/>
            <p:cNvSpPr txBox="1"/>
            <p:nvPr/>
          </p:nvSpPr>
          <p:spPr>
            <a:xfrm>
              <a:off x="0" y="9525"/>
              <a:ext cx="5085600" cy="1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99" u="none" cap="none" strike="noStrike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MONEDAVENTURA ::: 2025 :::</a:t>
              </a:r>
              <a:endParaRPr/>
            </a:p>
          </p:txBody>
        </p:sp>
      </p:grpSp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8"/>
          <p:cNvGrpSpPr/>
          <p:nvPr/>
        </p:nvGrpSpPr>
        <p:grpSpPr>
          <a:xfrm>
            <a:off x="8387100" y="3429000"/>
            <a:ext cx="9216227" cy="5524545"/>
            <a:chOff x="0" y="0"/>
            <a:chExt cx="3212572" cy="1711286"/>
          </a:xfrm>
        </p:grpSpPr>
        <p:sp>
          <p:nvSpPr>
            <p:cNvPr id="201" name="Google Shape;201;p8"/>
            <p:cNvSpPr/>
            <p:nvPr/>
          </p:nvSpPr>
          <p:spPr>
            <a:xfrm>
              <a:off x="0" y="0"/>
              <a:ext cx="3212572" cy="1711286"/>
            </a:xfrm>
            <a:custGeom>
              <a:rect b="b" l="l" r="r" t="t"/>
              <a:pathLst>
                <a:path extrusionOk="0" h="1711286" w="3212572">
                  <a:moveTo>
                    <a:pt x="0" y="0"/>
                  </a:moveTo>
                  <a:lnTo>
                    <a:pt x="3212572" y="0"/>
                  </a:lnTo>
                  <a:lnTo>
                    <a:pt x="3212572" y="1711286"/>
                  </a:lnTo>
                  <a:lnTo>
                    <a:pt x="0" y="1711286"/>
                  </a:lnTo>
                  <a:close/>
                </a:path>
              </a:pathLst>
            </a:custGeom>
            <a:solidFill>
              <a:srgbClr val="41CD57"/>
            </a:solidFill>
            <a:ln cap="sq" cmpd="sng" w="19050">
              <a:solidFill>
                <a:srgbClr val="013542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02" name="Google Shape;202;p8"/>
            <p:cNvSpPr txBox="1"/>
            <p:nvPr/>
          </p:nvSpPr>
          <p:spPr>
            <a:xfrm>
              <a:off x="0" y="19050"/>
              <a:ext cx="3212571" cy="16922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" name="Google Shape;203;p8"/>
          <p:cNvSpPr/>
          <p:nvPr/>
        </p:nvSpPr>
        <p:spPr>
          <a:xfrm>
            <a:off x="16117448" y="220699"/>
            <a:ext cx="1812810" cy="2197345"/>
          </a:xfrm>
          <a:custGeom>
            <a:rect b="b" l="l" r="r" t="t"/>
            <a:pathLst>
              <a:path extrusionOk="0" h="2197345" w="1812810">
                <a:moveTo>
                  <a:pt x="0" y="0"/>
                </a:moveTo>
                <a:lnTo>
                  <a:pt x="1812809" y="0"/>
                </a:lnTo>
                <a:lnTo>
                  <a:pt x="1812809" y="2197345"/>
                </a:lnTo>
                <a:lnTo>
                  <a:pt x="0" y="21973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p8"/>
          <p:cNvSpPr/>
          <p:nvPr/>
        </p:nvSpPr>
        <p:spPr>
          <a:xfrm>
            <a:off x="0" y="3594225"/>
            <a:ext cx="8387094" cy="5184139"/>
          </a:xfrm>
          <a:custGeom>
            <a:rect b="b" l="l" r="r" t="t"/>
            <a:pathLst>
              <a:path extrusionOk="0" h="1708142" w="2763496">
                <a:moveTo>
                  <a:pt x="0" y="0"/>
                </a:moveTo>
                <a:lnTo>
                  <a:pt x="2131687" y="0"/>
                </a:lnTo>
                <a:cubicBezTo>
                  <a:pt x="2480197" y="0"/>
                  <a:pt x="2763496" y="175109"/>
                  <a:pt x="2763496" y="390527"/>
                </a:cubicBezTo>
                <a:lnTo>
                  <a:pt x="2763496" y="1708142"/>
                </a:lnTo>
                <a:lnTo>
                  <a:pt x="0" y="1708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893" l="0" r="0" t="-3893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8726928" y="561189"/>
            <a:ext cx="3754559" cy="2341480"/>
          </a:xfrm>
          <a:custGeom>
            <a:rect b="b" l="l" r="r" t="t"/>
            <a:pathLst>
              <a:path extrusionOk="0" h="2341480" w="3754559">
                <a:moveTo>
                  <a:pt x="0" y="0"/>
                </a:moveTo>
                <a:lnTo>
                  <a:pt x="3754559" y="0"/>
                </a:lnTo>
                <a:lnTo>
                  <a:pt x="3754559" y="2341479"/>
                </a:lnTo>
                <a:lnTo>
                  <a:pt x="0" y="23414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8"/>
          <p:cNvSpPr txBox="1"/>
          <p:nvPr/>
        </p:nvSpPr>
        <p:spPr>
          <a:xfrm>
            <a:off x="245345" y="403351"/>
            <a:ext cx="8898655" cy="319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99" u="none" cap="none" strike="noStrike">
                <a:solidFill>
                  <a:srgbClr val="01354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Arquitectura del software</a:t>
            </a:r>
            <a:endParaRPr/>
          </a:p>
          <a:p>
            <a:pPr indent="0" lvl="0" marL="0" marR="0" rtl="0" algn="l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499" u="none" cap="none" strike="noStrike">
              <a:solidFill>
                <a:srgbClr val="013542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207" name="Google Shape;207;p8"/>
          <p:cNvSpPr txBox="1"/>
          <p:nvPr/>
        </p:nvSpPr>
        <p:spPr>
          <a:xfrm>
            <a:off x="8726928" y="3714746"/>
            <a:ext cx="8296925" cy="41600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77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Tipo de Arquitectura</a:t>
            </a:r>
            <a:endParaRPr/>
          </a:p>
          <a:p>
            <a:pPr indent="0" lvl="0" marL="0" marR="0" rtl="0" algn="l">
              <a:lnSpc>
                <a:spcPct val="13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77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77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Tipo: Monolito Modular (desacoplado por contenedores)</a:t>
            </a:r>
            <a:endParaRPr/>
          </a:p>
          <a:p>
            <a:pPr indent="0" lvl="0" marL="0" marR="0" rtl="0" algn="l">
              <a:lnSpc>
                <a:spcPct val="13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77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Patrón de comunicación: RESTful API</a:t>
            </a:r>
            <a:endParaRPr/>
          </a:p>
          <a:p>
            <a:pPr indent="0" lvl="0" marL="0" marR="0" rtl="0" algn="l">
              <a:lnSpc>
                <a:spcPct val="13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77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Gestión del entorno: Docker Compose</a:t>
            </a:r>
            <a:endParaRPr/>
          </a:p>
          <a:p>
            <a:pPr indent="0" lvl="0" marL="0" marR="0" rtl="0" algn="l">
              <a:lnSpc>
                <a:spcPct val="13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77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Escalabilidad: Vertical (se pueden separar servicios fácilmente en producción)</a:t>
            </a:r>
            <a:endParaRPr/>
          </a:p>
        </p:txBody>
      </p:sp>
      <p:grpSp>
        <p:nvGrpSpPr>
          <p:cNvPr id="208" name="Google Shape;208;p8"/>
          <p:cNvGrpSpPr/>
          <p:nvPr/>
        </p:nvGrpSpPr>
        <p:grpSpPr>
          <a:xfrm>
            <a:off x="0" y="9501750"/>
            <a:ext cx="18460219" cy="785674"/>
            <a:chOff x="0" y="0"/>
            <a:chExt cx="5085600" cy="206925"/>
          </a:xfrm>
        </p:grpSpPr>
        <p:sp>
          <p:nvSpPr>
            <p:cNvPr id="209" name="Google Shape;209;p8"/>
            <p:cNvSpPr/>
            <p:nvPr/>
          </p:nvSpPr>
          <p:spPr>
            <a:xfrm>
              <a:off x="0" y="0"/>
              <a:ext cx="5085584" cy="206814"/>
            </a:xfrm>
            <a:custGeom>
              <a:rect b="b" l="l" r="r" t="t"/>
              <a:pathLst>
                <a:path extrusionOk="0" h="206814" w="5085584">
                  <a:moveTo>
                    <a:pt x="0" y="0"/>
                  </a:moveTo>
                  <a:lnTo>
                    <a:pt x="5085584" y="0"/>
                  </a:lnTo>
                  <a:lnTo>
                    <a:pt x="5085584" y="206814"/>
                  </a:lnTo>
                  <a:lnTo>
                    <a:pt x="0" y="206814"/>
                  </a:lnTo>
                  <a:close/>
                </a:path>
              </a:pathLst>
            </a:custGeom>
            <a:solidFill>
              <a:srgbClr val="41CD57"/>
            </a:solidFill>
            <a:ln>
              <a:noFill/>
            </a:ln>
          </p:spPr>
        </p:sp>
        <p:sp>
          <p:nvSpPr>
            <p:cNvPr id="210" name="Google Shape;210;p8"/>
            <p:cNvSpPr txBox="1"/>
            <p:nvPr/>
          </p:nvSpPr>
          <p:spPr>
            <a:xfrm>
              <a:off x="0" y="9525"/>
              <a:ext cx="5085600" cy="1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99" u="none" cap="none" strike="noStrike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MONEDAVENTURA ::: 2025 :::</a:t>
              </a:r>
              <a:endParaRPr/>
            </a:p>
          </p:txBody>
        </p:sp>
      </p:grp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"/>
          <p:cNvSpPr/>
          <p:nvPr/>
        </p:nvSpPr>
        <p:spPr>
          <a:xfrm>
            <a:off x="2195899" y="2008772"/>
            <a:ext cx="15063401" cy="7492980"/>
          </a:xfrm>
          <a:custGeom>
            <a:rect b="b" l="l" r="r" t="t"/>
            <a:pathLst>
              <a:path extrusionOk="0" h="5723285" w="11505722">
                <a:moveTo>
                  <a:pt x="0" y="0"/>
                </a:moveTo>
                <a:lnTo>
                  <a:pt x="8875206" y="0"/>
                </a:lnTo>
                <a:cubicBezTo>
                  <a:pt x="10326219" y="0"/>
                  <a:pt x="11505722" y="586720"/>
                  <a:pt x="11505722" y="1308496"/>
                </a:cubicBezTo>
                <a:lnTo>
                  <a:pt x="11505722" y="5723285"/>
                </a:lnTo>
                <a:lnTo>
                  <a:pt x="0" y="57232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69" l="0" r="0" t="-277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15088391" y="530886"/>
            <a:ext cx="1812810" cy="2197345"/>
          </a:xfrm>
          <a:custGeom>
            <a:rect b="b" l="l" r="r" t="t"/>
            <a:pathLst>
              <a:path extrusionOk="0" h="2197345" w="1812810">
                <a:moveTo>
                  <a:pt x="0" y="0"/>
                </a:moveTo>
                <a:lnTo>
                  <a:pt x="1812809" y="0"/>
                </a:lnTo>
                <a:lnTo>
                  <a:pt x="1812809" y="2197346"/>
                </a:lnTo>
                <a:lnTo>
                  <a:pt x="0" y="21973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9"/>
          <p:cNvSpPr/>
          <p:nvPr/>
        </p:nvSpPr>
        <p:spPr>
          <a:xfrm>
            <a:off x="481920" y="530886"/>
            <a:ext cx="2197345" cy="2197345"/>
          </a:xfrm>
          <a:custGeom>
            <a:rect b="b" l="l" r="r" t="t"/>
            <a:pathLst>
              <a:path extrusionOk="0" h="2197345" w="2197345">
                <a:moveTo>
                  <a:pt x="0" y="0"/>
                </a:moveTo>
                <a:lnTo>
                  <a:pt x="2197345" y="0"/>
                </a:lnTo>
                <a:lnTo>
                  <a:pt x="2197345" y="2197346"/>
                </a:lnTo>
                <a:lnTo>
                  <a:pt x="0" y="21973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9"/>
          <p:cNvSpPr txBox="1"/>
          <p:nvPr/>
        </p:nvSpPr>
        <p:spPr>
          <a:xfrm>
            <a:off x="3335905" y="692811"/>
            <a:ext cx="10880866" cy="1062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99" u="none" cap="none" strike="noStrike">
                <a:solidFill>
                  <a:srgbClr val="0B173D"/>
                </a:solidFill>
                <a:latin typeface="Arial"/>
                <a:ea typeface="Arial"/>
                <a:cs typeface="Arial"/>
                <a:sym typeface="Arial"/>
              </a:rPr>
              <a:t>Modelado de Datos </a:t>
            </a:r>
            <a:endParaRPr/>
          </a:p>
        </p:txBody>
      </p:sp>
      <p:grpSp>
        <p:nvGrpSpPr>
          <p:cNvPr id="219" name="Google Shape;219;p9"/>
          <p:cNvGrpSpPr/>
          <p:nvPr/>
        </p:nvGrpSpPr>
        <p:grpSpPr>
          <a:xfrm>
            <a:off x="0" y="9501750"/>
            <a:ext cx="18460219" cy="785674"/>
            <a:chOff x="0" y="0"/>
            <a:chExt cx="5085600" cy="206925"/>
          </a:xfrm>
        </p:grpSpPr>
        <p:sp>
          <p:nvSpPr>
            <p:cNvPr id="220" name="Google Shape;220;p9"/>
            <p:cNvSpPr/>
            <p:nvPr/>
          </p:nvSpPr>
          <p:spPr>
            <a:xfrm>
              <a:off x="0" y="0"/>
              <a:ext cx="5085584" cy="206814"/>
            </a:xfrm>
            <a:custGeom>
              <a:rect b="b" l="l" r="r" t="t"/>
              <a:pathLst>
                <a:path extrusionOk="0" h="206814" w="5085584">
                  <a:moveTo>
                    <a:pt x="0" y="0"/>
                  </a:moveTo>
                  <a:lnTo>
                    <a:pt x="5085584" y="0"/>
                  </a:lnTo>
                  <a:lnTo>
                    <a:pt x="5085584" y="206814"/>
                  </a:lnTo>
                  <a:lnTo>
                    <a:pt x="0" y="206814"/>
                  </a:lnTo>
                  <a:close/>
                </a:path>
              </a:pathLst>
            </a:custGeom>
            <a:solidFill>
              <a:srgbClr val="41CD57"/>
            </a:solidFill>
            <a:ln>
              <a:noFill/>
            </a:ln>
          </p:spPr>
        </p:sp>
        <p:sp>
          <p:nvSpPr>
            <p:cNvPr id="221" name="Google Shape;221;p9"/>
            <p:cNvSpPr txBox="1"/>
            <p:nvPr/>
          </p:nvSpPr>
          <p:spPr>
            <a:xfrm>
              <a:off x="0" y="9525"/>
              <a:ext cx="5085600" cy="1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99" u="none" cap="none" strike="noStrike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MONEDAVENTURA ::: 2025 :::</a:t>
              </a:r>
              <a:endParaRPr/>
            </a:p>
          </p:txBody>
        </p:sp>
      </p:grpSp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226;p10"/>
          <p:cNvGrpSpPr/>
          <p:nvPr/>
        </p:nvGrpSpPr>
        <p:grpSpPr>
          <a:xfrm>
            <a:off x="3511425" y="7191189"/>
            <a:ext cx="1472217" cy="1472217"/>
            <a:chOff x="0" y="0"/>
            <a:chExt cx="812800" cy="812800"/>
          </a:xfrm>
        </p:grpSpPr>
        <p:sp>
          <p:nvSpPr>
            <p:cNvPr id="227" name="Google Shape;227;p1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9" name="Google Shape;229;p10"/>
          <p:cNvGrpSpPr/>
          <p:nvPr/>
        </p:nvGrpSpPr>
        <p:grpSpPr>
          <a:xfrm>
            <a:off x="4694826" y="4947252"/>
            <a:ext cx="1472217" cy="1472217"/>
            <a:chOff x="0" y="0"/>
            <a:chExt cx="812800" cy="812800"/>
          </a:xfrm>
        </p:grpSpPr>
        <p:sp>
          <p:nvSpPr>
            <p:cNvPr id="230" name="Google Shape;230;p1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p10"/>
          <p:cNvGrpSpPr/>
          <p:nvPr/>
        </p:nvGrpSpPr>
        <p:grpSpPr>
          <a:xfrm>
            <a:off x="10609106" y="3365283"/>
            <a:ext cx="1472217" cy="1472217"/>
            <a:chOff x="0" y="0"/>
            <a:chExt cx="812800" cy="812800"/>
          </a:xfrm>
        </p:grpSpPr>
        <p:sp>
          <p:nvSpPr>
            <p:cNvPr id="233" name="Google Shape;233;p1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9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p10"/>
          <p:cNvSpPr/>
          <p:nvPr/>
        </p:nvSpPr>
        <p:spPr>
          <a:xfrm>
            <a:off x="6586143" y="5354330"/>
            <a:ext cx="837801" cy="720509"/>
          </a:xfrm>
          <a:custGeom>
            <a:rect b="b" l="l" r="r" t="t"/>
            <a:pathLst>
              <a:path extrusionOk="0" h="720509" w="837801">
                <a:moveTo>
                  <a:pt x="0" y="0"/>
                </a:moveTo>
                <a:lnTo>
                  <a:pt x="837800" y="0"/>
                </a:lnTo>
                <a:lnTo>
                  <a:pt x="837800" y="720508"/>
                </a:lnTo>
                <a:lnTo>
                  <a:pt x="0" y="720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6" name="Google Shape;236;p10"/>
          <p:cNvSpPr/>
          <p:nvPr/>
        </p:nvSpPr>
        <p:spPr>
          <a:xfrm>
            <a:off x="8816330" y="4530566"/>
            <a:ext cx="659982" cy="862209"/>
          </a:xfrm>
          <a:custGeom>
            <a:rect b="b" l="l" r="r" t="t"/>
            <a:pathLst>
              <a:path extrusionOk="0" h="862209" w="659982">
                <a:moveTo>
                  <a:pt x="0" y="0"/>
                </a:moveTo>
                <a:lnTo>
                  <a:pt x="659982" y="0"/>
                </a:lnTo>
                <a:lnTo>
                  <a:pt x="659982" y="862209"/>
                </a:lnTo>
                <a:lnTo>
                  <a:pt x="0" y="8622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10"/>
          <p:cNvSpPr/>
          <p:nvPr/>
        </p:nvSpPr>
        <p:spPr>
          <a:xfrm>
            <a:off x="12424974" y="6860989"/>
            <a:ext cx="660400" cy="660400"/>
          </a:xfrm>
          <a:custGeom>
            <a:rect b="b" l="l" r="r" t="t"/>
            <a:pathLst>
              <a:path extrusionOk="0" h="660400" w="660400">
                <a:moveTo>
                  <a:pt x="0" y="0"/>
                </a:moveTo>
                <a:lnTo>
                  <a:pt x="660400" y="0"/>
                </a:lnTo>
                <a:lnTo>
                  <a:pt x="6604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8" name="Google Shape;238;p10"/>
          <p:cNvSpPr/>
          <p:nvPr/>
        </p:nvSpPr>
        <p:spPr>
          <a:xfrm>
            <a:off x="5170566" y="6919888"/>
            <a:ext cx="724520" cy="542601"/>
          </a:xfrm>
          <a:custGeom>
            <a:rect b="b" l="l" r="r" t="t"/>
            <a:pathLst>
              <a:path extrusionOk="0" h="542601" w="724520">
                <a:moveTo>
                  <a:pt x="0" y="0"/>
                </a:moveTo>
                <a:lnTo>
                  <a:pt x="724520" y="0"/>
                </a:lnTo>
                <a:lnTo>
                  <a:pt x="724520" y="542602"/>
                </a:lnTo>
                <a:lnTo>
                  <a:pt x="0" y="5426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9" name="Google Shape;239;p10"/>
          <p:cNvSpPr/>
          <p:nvPr/>
        </p:nvSpPr>
        <p:spPr>
          <a:xfrm>
            <a:off x="4983642" y="5282324"/>
            <a:ext cx="8320716" cy="7881124"/>
          </a:xfrm>
          <a:custGeom>
            <a:rect b="b" l="l" r="r" t="t"/>
            <a:pathLst>
              <a:path extrusionOk="0" h="7881124" w="8320716">
                <a:moveTo>
                  <a:pt x="0" y="0"/>
                </a:moveTo>
                <a:lnTo>
                  <a:pt x="8320716" y="0"/>
                </a:lnTo>
                <a:lnTo>
                  <a:pt x="8320716" y="7881125"/>
                </a:lnTo>
                <a:lnTo>
                  <a:pt x="0" y="7881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22476" r="-25968" t="-4420"/>
            </a:stretch>
          </a:blipFill>
          <a:ln>
            <a:noFill/>
          </a:ln>
        </p:spPr>
      </p:sp>
      <p:grpSp>
        <p:nvGrpSpPr>
          <p:cNvPr id="240" name="Google Shape;240;p10"/>
          <p:cNvGrpSpPr/>
          <p:nvPr/>
        </p:nvGrpSpPr>
        <p:grpSpPr>
          <a:xfrm>
            <a:off x="6068039" y="2974616"/>
            <a:ext cx="1472217" cy="1472217"/>
            <a:chOff x="0" y="0"/>
            <a:chExt cx="812800" cy="812800"/>
          </a:xfrm>
        </p:grpSpPr>
        <p:sp>
          <p:nvSpPr>
            <p:cNvPr id="241" name="Google Shape;241;p1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" name="Google Shape;243;p10"/>
          <p:cNvSpPr/>
          <p:nvPr/>
        </p:nvSpPr>
        <p:spPr>
          <a:xfrm>
            <a:off x="3705331" y="7385095"/>
            <a:ext cx="1084405" cy="1084405"/>
          </a:xfrm>
          <a:custGeom>
            <a:rect b="b" l="l" r="r" t="t"/>
            <a:pathLst>
              <a:path extrusionOk="0" h="1084405" w="1084405">
                <a:moveTo>
                  <a:pt x="0" y="0"/>
                </a:moveTo>
                <a:lnTo>
                  <a:pt x="1084405" y="0"/>
                </a:lnTo>
                <a:lnTo>
                  <a:pt x="1084405" y="1084405"/>
                </a:lnTo>
                <a:lnTo>
                  <a:pt x="0" y="1084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10"/>
          <p:cNvSpPr/>
          <p:nvPr/>
        </p:nvSpPr>
        <p:spPr>
          <a:xfrm>
            <a:off x="4890882" y="5181850"/>
            <a:ext cx="1080104" cy="1080104"/>
          </a:xfrm>
          <a:custGeom>
            <a:rect b="b" l="l" r="r" t="t"/>
            <a:pathLst>
              <a:path extrusionOk="0" h="1080104" w="1080104">
                <a:moveTo>
                  <a:pt x="0" y="0"/>
                </a:moveTo>
                <a:lnTo>
                  <a:pt x="1080104" y="0"/>
                </a:lnTo>
                <a:lnTo>
                  <a:pt x="1080104" y="1080104"/>
                </a:lnTo>
                <a:lnTo>
                  <a:pt x="0" y="10801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10"/>
          <p:cNvSpPr/>
          <p:nvPr/>
        </p:nvSpPr>
        <p:spPr>
          <a:xfrm>
            <a:off x="6247763" y="3194945"/>
            <a:ext cx="1112770" cy="1016605"/>
          </a:xfrm>
          <a:custGeom>
            <a:rect b="b" l="l" r="r" t="t"/>
            <a:pathLst>
              <a:path extrusionOk="0" h="1016605" w="1112770">
                <a:moveTo>
                  <a:pt x="0" y="0"/>
                </a:moveTo>
                <a:lnTo>
                  <a:pt x="1112770" y="0"/>
                </a:lnTo>
                <a:lnTo>
                  <a:pt x="1112770" y="1016605"/>
                </a:lnTo>
                <a:lnTo>
                  <a:pt x="0" y="10166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10"/>
          <p:cNvSpPr/>
          <p:nvPr/>
        </p:nvSpPr>
        <p:spPr>
          <a:xfrm>
            <a:off x="8435606" y="1863461"/>
            <a:ext cx="1416475" cy="1416475"/>
          </a:xfrm>
          <a:custGeom>
            <a:rect b="b" l="l" r="r" t="t"/>
            <a:pathLst>
              <a:path extrusionOk="0" h="1416475" w="1416475">
                <a:moveTo>
                  <a:pt x="0" y="0"/>
                </a:moveTo>
                <a:lnTo>
                  <a:pt x="1416475" y="0"/>
                </a:lnTo>
                <a:lnTo>
                  <a:pt x="1416475" y="1416474"/>
                </a:lnTo>
                <a:lnTo>
                  <a:pt x="0" y="14164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p10"/>
          <p:cNvSpPr/>
          <p:nvPr/>
        </p:nvSpPr>
        <p:spPr>
          <a:xfrm>
            <a:off x="10787339" y="3666767"/>
            <a:ext cx="1008406" cy="1008406"/>
          </a:xfrm>
          <a:custGeom>
            <a:rect b="b" l="l" r="r" t="t"/>
            <a:pathLst>
              <a:path extrusionOk="0" h="1008406" w="1008406">
                <a:moveTo>
                  <a:pt x="0" y="0"/>
                </a:moveTo>
                <a:lnTo>
                  <a:pt x="1008406" y="0"/>
                </a:lnTo>
                <a:lnTo>
                  <a:pt x="1008406" y="1008406"/>
                </a:lnTo>
                <a:lnTo>
                  <a:pt x="0" y="1008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8" name="Google Shape;248;p10"/>
          <p:cNvGrpSpPr/>
          <p:nvPr/>
        </p:nvGrpSpPr>
        <p:grpSpPr>
          <a:xfrm>
            <a:off x="13246087" y="5258224"/>
            <a:ext cx="1472217" cy="1472217"/>
            <a:chOff x="0" y="0"/>
            <a:chExt cx="812800" cy="812800"/>
          </a:xfrm>
        </p:grpSpPr>
        <p:sp>
          <p:nvSpPr>
            <p:cNvPr id="249" name="Google Shape;249;p1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9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1" name="Google Shape;251;p10"/>
          <p:cNvSpPr/>
          <p:nvPr/>
        </p:nvSpPr>
        <p:spPr>
          <a:xfrm>
            <a:off x="13373762" y="5466405"/>
            <a:ext cx="1216866" cy="1216866"/>
          </a:xfrm>
          <a:custGeom>
            <a:rect b="b" l="l" r="r" t="t"/>
            <a:pathLst>
              <a:path extrusionOk="0" h="1216866" w="1216866">
                <a:moveTo>
                  <a:pt x="0" y="0"/>
                </a:moveTo>
                <a:lnTo>
                  <a:pt x="1216867" y="0"/>
                </a:lnTo>
                <a:lnTo>
                  <a:pt x="1216867" y="1216866"/>
                </a:lnTo>
                <a:lnTo>
                  <a:pt x="0" y="1216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2" name="Google Shape;252;p10"/>
          <p:cNvSpPr/>
          <p:nvPr/>
        </p:nvSpPr>
        <p:spPr>
          <a:xfrm>
            <a:off x="16117448" y="220699"/>
            <a:ext cx="1812810" cy="2197345"/>
          </a:xfrm>
          <a:custGeom>
            <a:rect b="b" l="l" r="r" t="t"/>
            <a:pathLst>
              <a:path extrusionOk="0" h="2197345" w="1812810">
                <a:moveTo>
                  <a:pt x="0" y="0"/>
                </a:moveTo>
                <a:lnTo>
                  <a:pt x="1812809" y="0"/>
                </a:lnTo>
                <a:lnTo>
                  <a:pt x="1812809" y="2197345"/>
                </a:lnTo>
                <a:lnTo>
                  <a:pt x="0" y="21973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p10"/>
          <p:cNvSpPr/>
          <p:nvPr/>
        </p:nvSpPr>
        <p:spPr>
          <a:xfrm>
            <a:off x="13447233" y="7902016"/>
            <a:ext cx="1503573" cy="1503573"/>
          </a:xfrm>
          <a:custGeom>
            <a:rect b="b" l="l" r="r" t="t"/>
            <a:pathLst>
              <a:path extrusionOk="0" h="1503573" w="1503573">
                <a:moveTo>
                  <a:pt x="0" y="0"/>
                </a:moveTo>
                <a:lnTo>
                  <a:pt x="1503573" y="0"/>
                </a:lnTo>
                <a:lnTo>
                  <a:pt x="1503573" y="1503573"/>
                </a:lnTo>
                <a:lnTo>
                  <a:pt x="0" y="15035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4" name="Google Shape;254;p10"/>
          <p:cNvSpPr txBox="1"/>
          <p:nvPr/>
        </p:nvSpPr>
        <p:spPr>
          <a:xfrm>
            <a:off x="770708" y="7997926"/>
            <a:ext cx="2787276" cy="330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B173D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/>
          </a:p>
        </p:txBody>
      </p:sp>
      <p:sp>
        <p:nvSpPr>
          <p:cNvPr id="255" name="Google Shape;255;p10"/>
          <p:cNvSpPr txBox="1"/>
          <p:nvPr/>
        </p:nvSpPr>
        <p:spPr>
          <a:xfrm>
            <a:off x="770708" y="8375752"/>
            <a:ext cx="3289902" cy="296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1E42AC"/>
                </a:solidFill>
                <a:latin typeface="Arial"/>
                <a:ea typeface="Arial"/>
                <a:cs typeface="Arial"/>
                <a:sym typeface="Arial"/>
              </a:rPr>
              <a:t>React, Next.js, Figma</a:t>
            </a:r>
            <a:endParaRPr/>
          </a:p>
        </p:txBody>
      </p:sp>
      <p:sp>
        <p:nvSpPr>
          <p:cNvPr id="256" name="Google Shape;256;p10"/>
          <p:cNvSpPr txBox="1"/>
          <p:nvPr/>
        </p:nvSpPr>
        <p:spPr>
          <a:xfrm>
            <a:off x="1219784" y="5329949"/>
            <a:ext cx="2787276" cy="330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B173D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/>
          </a:p>
        </p:txBody>
      </p:sp>
      <p:sp>
        <p:nvSpPr>
          <p:cNvPr id="257" name="Google Shape;257;p10"/>
          <p:cNvSpPr txBox="1"/>
          <p:nvPr/>
        </p:nvSpPr>
        <p:spPr>
          <a:xfrm>
            <a:off x="1219784" y="5869872"/>
            <a:ext cx="3289902" cy="296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1E42AC"/>
                </a:solidFill>
                <a:latin typeface="Arial"/>
                <a:ea typeface="Arial"/>
                <a:cs typeface="Arial"/>
                <a:sym typeface="Arial"/>
              </a:rPr>
              <a:t>Django (REST Framework)</a:t>
            </a:r>
            <a:endParaRPr/>
          </a:p>
        </p:txBody>
      </p:sp>
      <p:sp>
        <p:nvSpPr>
          <p:cNvPr id="258" name="Google Shape;258;p10"/>
          <p:cNvSpPr txBox="1"/>
          <p:nvPr/>
        </p:nvSpPr>
        <p:spPr>
          <a:xfrm>
            <a:off x="9646591" y="1684180"/>
            <a:ext cx="2930243" cy="644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B173D"/>
                </a:solidFill>
                <a:latin typeface="Arial"/>
                <a:ea typeface="Arial"/>
                <a:cs typeface="Arial"/>
                <a:sym typeface="Arial"/>
              </a:rPr>
              <a:t>Control de versiones</a:t>
            </a:r>
            <a:endParaRPr/>
          </a:p>
        </p:txBody>
      </p:sp>
      <p:sp>
        <p:nvSpPr>
          <p:cNvPr id="259" name="Google Shape;259;p10"/>
          <p:cNvSpPr txBox="1"/>
          <p:nvPr/>
        </p:nvSpPr>
        <p:spPr>
          <a:xfrm>
            <a:off x="9646591" y="2395380"/>
            <a:ext cx="3289902" cy="296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1E42AC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/>
          </a:p>
        </p:txBody>
      </p:sp>
      <p:sp>
        <p:nvSpPr>
          <p:cNvPr id="260" name="Google Shape;260;p10"/>
          <p:cNvSpPr txBox="1"/>
          <p:nvPr/>
        </p:nvSpPr>
        <p:spPr>
          <a:xfrm>
            <a:off x="12067174" y="3439810"/>
            <a:ext cx="2036400" cy="644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B173D"/>
                </a:solidFill>
                <a:latin typeface="Arial"/>
                <a:ea typeface="Arial"/>
                <a:cs typeface="Arial"/>
                <a:sym typeface="Arial"/>
              </a:rPr>
              <a:t>Gestión de proyecto</a:t>
            </a:r>
            <a:endParaRPr/>
          </a:p>
        </p:txBody>
      </p:sp>
      <p:sp>
        <p:nvSpPr>
          <p:cNvPr id="261" name="Google Shape;261;p10"/>
          <p:cNvSpPr txBox="1"/>
          <p:nvPr/>
        </p:nvSpPr>
        <p:spPr>
          <a:xfrm>
            <a:off x="12388600" y="4234020"/>
            <a:ext cx="1714974" cy="296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1E42AC"/>
                </a:solidFill>
                <a:latin typeface="Arial"/>
                <a:ea typeface="Arial"/>
                <a:cs typeface="Arial"/>
                <a:sym typeface="Arial"/>
              </a:rPr>
              <a:t>Jira (Scrum)</a:t>
            </a:r>
            <a:endParaRPr/>
          </a:p>
        </p:txBody>
      </p:sp>
      <p:sp>
        <p:nvSpPr>
          <p:cNvPr id="262" name="Google Shape;262;p10"/>
          <p:cNvSpPr txBox="1"/>
          <p:nvPr/>
        </p:nvSpPr>
        <p:spPr>
          <a:xfrm>
            <a:off x="14659010" y="8348687"/>
            <a:ext cx="2787276" cy="330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B173D"/>
                </a:solidFill>
                <a:latin typeface="Arial"/>
                <a:ea typeface="Arial"/>
                <a:cs typeface="Arial"/>
                <a:sym typeface="Arial"/>
              </a:rPr>
              <a:t>Documentación</a:t>
            </a:r>
            <a:endParaRPr/>
          </a:p>
        </p:txBody>
      </p:sp>
      <p:sp>
        <p:nvSpPr>
          <p:cNvPr id="263" name="Google Shape;263;p10"/>
          <p:cNvSpPr txBox="1"/>
          <p:nvPr/>
        </p:nvSpPr>
        <p:spPr>
          <a:xfrm>
            <a:off x="14156384" y="8831288"/>
            <a:ext cx="3289902" cy="296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1E42AC"/>
                </a:solidFill>
                <a:latin typeface="Arial"/>
                <a:ea typeface="Arial"/>
                <a:cs typeface="Arial"/>
                <a:sym typeface="Arial"/>
              </a:rPr>
              <a:t>Word, Canva, GDD</a:t>
            </a:r>
            <a:endParaRPr/>
          </a:p>
        </p:txBody>
      </p:sp>
      <p:sp>
        <p:nvSpPr>
          <p:cNvPr id="264" name="Google Shape;264;p10"/>
          <p:cNvSpPr txBox="1"/>
          <p:nvPr/>
        </p:nvSpPr>
        <p:spPr>
          <a:xfrm>
            <a:off x="268327" y="696755"/>
            <a:ext cx="11253518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99" u="none" cap="none" strike="noStrike">
                <a:solidFill>
                  <a:srgbClr val="0B173D"/>
                </a:solidFill>
                <a:latin typeface="Arial"/>
                <a:ea typeface="Arial"/>
                <a:cs typeface="Arial"/>
                <a:sym typeface="Arial"/>
              </a:rPr>
              <a:t>Tecnologías Utilizadas</a:t>
            </a:r>
            <a:endParaRPr/>
          </a:p>
        </p:txBody>
      </p:sp>
      <p:sp>
        <p:nvSpPr>
          <p:cNvPr id="265" name="Google Shape;265;p10"/>
          <p:cNvSpPr txBox="1"/>
          <p:nvPr/>
        </p:nvSpPr>
        <p:spPr>
          <a:xfrm>
            <a:off x="2383290" y="3138648"/>
            <a:ext cx="2787276" cy="330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B173D"/>
                </a:solidFill>
                <a:latin typeface="Arial"/>
                <a:ea typeface="Arial"/>
                <a:cs typeface="Arial"/>
                <a:sym typeface="Arial"/>
              </a:rPr>
              <a:t>Base de datos</a:t>
            </a:r>
            <a:endParaRPr/>
          </a:p>
        </p:txBody>
      </p:sp>
      <p:sp>
        <p:nvSpPr>
          <p:cNvPr id="266" name="Google Shape;266;p10"/>
          <p:cNvSpPr txBox="1"/>
          <p:nvPr/>
        </p:nvSpPr>
        <p:spPr>
          <a:xfrm>
            <a:off x="2422338" y="3578787"/>
            <a:ext cx="3289902" cy="296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1E42AC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/>
          </a:p>
        </p:txBody>
      </p:sp>
      <p:sp>
        <p:nvSpPr>
          <p:cNvPr id="267" name="Google Shape;267;p10"/>
          <p:cNvSpPr txBox="1"/>
          <p:nvPr/>
        </p:nvSpPr>
        <p:spPr>
          <a:xfrm>
            <a:off x="15194554" y="5401955"/>
            <a:ext cx="2628258" cy="644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B173D"/>
                </a:solidFill>
                <a:latin typeface="Arial"/>
                <a:ea typeface="Arial"/>
                <a:cs typeface="Arial"/>
                <a:sym typeface="Arial"/>
              </a:rPr>
              <a:t>Infraestructura y Despliegue</a:t>
            </a:r>
            <a:endParaRPr/>
          </a:p>
        </p:txBody>
      </p:sp>
      <p:sp>
        <p:nvSpPr>
          <p:cNvPr id="268" name="Google Shape;268;p10"/>
          <p:cNvSpPr txBox="1"/>
          <p:nvPr/>
        </p:nvSpPr>
        <p:spPr>
          <a:xfrm>
            <a:off x="15240399" y="6214043"/>
            <a:ext cx="1714974" cy="296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1E42AC"/>
                </a:solidFill>
                <a:latin typeface="Arial"/>
                <a:ea typeface="Arial"/>
                <a:cs typeface="Arial"/>
                <a:sym typeface="Arial"/>
              </a:rPr>
              <a:t>Docker</a:t>
            </a:r>
            <a:endParaRPr/>
          </a:p>
        </p:txBody>
      </p:sp>
      <p:grpSp>
        <p:nvGrpSpPr>
          <p:cNvPr id="269" name="Google Shape;269;p10"/>
          <p:cNvGrpSpPr/>
          <p:nvPr/>
        </p:nvGrpSpPr>
        <p:grpSpPr>
          <a:xfrm>
            <a:off x="0" y="9501750"/>
            <a:ext cx="18460219" cy="785674"/>
            <a:chOff x="0" y="0"/>
            <a:chExt cx="5085600" cy="206925"/>
          </a:xfrm>
        </p:grpSpPr>
        <p:sp>
          <p:nvSpPr>
            <p:cNvPr id="270" name="Google Shape;270;p10"/>
            <p:cNvSpPr/>
            <p:nvPr/>
          </p:nvSpPr>
          <p:spPr>
            <a:xfrm>
              <a:off x="0" y="0"/>
              <a:ext cx="5085584" cy="206814"/>
            </a:xfrm>
            <a:custGeom>
              <a:rect b="b" l="l" r="r" t="t"/>
              <a:pathLst>
                <a:path extrusionOk="0" h="206814" w="5085584">
                  <a:moveTo>
                    <a:pt x="0" y="0"/>
                  </a:moveTo>
                  <a:lnTo>
                    <a:pt x="5085584" y="0"/>
                  </a:lnTo>
                  <a:lnTo>
                    <a:pt x="5085584" y="206814"/>
                  </a:lnTo>
                  <a:lnTo>
                    <a:pt x="0" y="206814"/>
                  </a:lnTo>
                  <a:close/>
                </a:path>
              </a:pathLst>
            </a:custGeom>
            <a:solidFill>
              <a:srgbClr val="41CD57"/>
            </a:solidFill>
            <a:ln>
              <a:noFill/>
            </a:ln>
          </p:spPr>
        </p:sp>
        <p:sp>
          <p:nvSpPr>
            <p:cNvPr id="271" name="Google Shape;271;p10"/>
            <p:cNvSpPr txBox="1"/>
            <p:nvPr/>
          </p:nvSpPr>
          <p:spPr>
            <a:xfrm>
              <a:off x="0" y="9525"/>
              <a:ext cx="5085600" cy="1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99" u="none" cap="none" strike="noStrike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MONEDAVENTURA ::: 2025 :::</a:t>
              </a:r>
              <a:endParaRPr/>
            </a:p>
          </p:txBody>
        </p:sp>
      </p:grp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"/>
          <p:cNvSpPr/>
          <p:nvPr/>
        </p:nvSpPr>
        <p:spPr>
          <a:xfrm>
            <a:off x="15533560" y="0"/>
            <a:ext cx="2623628" cy="3180155"/>
          </a:xfrm>
          <a:custGeom>
            <a:rect b="b" l="l" r="r" t="t"/>
            <a:pathLst>
              <a:path extrusionOk="0" h="3180155" w="2623628">
                <a:moveTo>
                  <a:pt x="0" y="0"/>
                </a:moveTo>
                <a:lnTo>
                  <a:pt x="2623628" y="0"/>
                </a:lnTo>
                <a:lnTo>
                  <a:pt x="2623628" y="3180155"/>
                </a:lnTo>
                <a:lnTo>
                  <a:pt x="0" y="3180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77" name="Google Shape;27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700" y="5294798"/>
            <a:ext cx="7656822" cy="25267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8" name="Google Shape;278;p11"/>
          <p:cNvGrpSpPr/>
          <p:nvPr/>
        </p:nvGrpSpPr>
        <p:grpSpPr>
          <a:xfrm>
            <a:off x="10089641" y="138207"/>
            <a:ext cx="5028570" cy="9363545"/>
            <a:chOff x="0" y="0"/>
            <a:chExt cx="3241040" cy="6035040"/>
          </a:xfrm>
        </p:grpSpPr>
        <p:sp>
          <p:nvSpPr>
            <p:cNvPr id="279" name="Google Shape;279;p11"/>
            <p:cNvSpPr/>
            <p:nvPr/>
          </p:nvSpPr>
          <p:spPr>
            <a:xfrm>
              <a:off x="10160" y="12700"/>
              <a:ext cx="3228340" cy="186690"/>
            </a:xfrm>
            <a:custGeom>
              <a:rect b="b" l="l" r="r" t="t"/>
              <a:pathLst>
                <a:path extrusionOk="0" h="186690" w="3228340">
                  <a:moveTo>
                    <a:pt x="0" y="186690"/>
                  </a:moveTo>
                  <a:lnTo>
                    <a:pt x="0" y="127000"/>
                  </a:lnTo>
                  <a:cubicBezTo>
                    <a:pt x="0" y="57150"/>
                    <a:pt x="57150" y="0"/>
                    <a:pt x="127000" y="0"/>
                  </a:cubicBezTo>
                  <a:lnTo>
                    <a:pt x="3101340" y="0"/>
                  </a:lnTo>
                  <a:cubicBezTo>
                    <a:pt x="3171190" y="0"/>
                    <a:pt x="3228340" y="57150"/>
                    <a:pt x="3228340" y="127000"/>
                  </a:cubicBezTo>
                  <a:lnTo>
                    <a:pt x="3228340" y="186690"/>
                  </a:lnTo>
                  <a:cubicBezTo>
                    <a:pt x="3228340" y="186690"/>
                    <a:pt x="0" y="186690"/>
                    <a:pt x="0" y="186690"/>
                  </a:cubicBezTo>
                  <a:close/>
                </a:path>
              </a:pathLst>
            </a:custGeom>
            <a:solidFill>
              <a:srgbClr val="484F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1"/>
            <p:cNvSpPr/>
            <p:nvPr/>
          </p:nvSpPr>
          <p:spPr>
            <a:xfrm>
              <a:off x="6350" y="193040"/>
              <a:ext cx="3228340" cy="5835650"/>
            </a:xfrm>
            <a:custGeom>
              <a:rect b="b" l="l" r="r" t="t"/>
              <a:pathLst>
                <a:path extrusionOk="0" h="5835650" w="3228340">
                  <a:moveTo>
                    <a:pt x="3101340" y="5835650"/>
                  </a:moveTo>
                  <a:lnTo>
                    <a:pt x="127000" y="5835650"/>
                  </a:lnTo>
                  <a:cubicBezTo>
                    <a:pt x="57150" y="5835650"/>
                    <a:pt x="0" y="5778500"/>
                    <a:pt x="0" y="5708650"/>
                  </a:cubicBezTo>
                  <a:lnTo>
                    <a:pt x="0" y="0"/>
                  </a:lnTo>
                  <a:lnTo>
                    <a:pt x="3228340" y="0"/>
                  </a:lnTo>
                  <a:lnTo>
                    <a:pt x="3228340" y="5708650"/>
                  </a:lnTo>
                  <a:cubicBezTo>
                    <a:pt x="3228340" y="5779770"/>
                    <a:pt x="3171190" y="5835650"/>
                    <a:pt x="3101340" y="5835650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-838" r="-837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1"/>
            <p:cNvSpPr/>
            <p:nvPr/>
          </p:nvSpPr>
          <p:spPr>
            <a:xfrm>
              <a:off x="0" y="0"/>
              <a:ext cx="3241040" cy="6035040"/>
            </a:xfrm>
            <a:custGeom>
              <a:rect b="b" l="l" r="r" t="t"/>
              <a:pathLst>
                <a:path extrusionOk="0" h="6035040" w="3241040">
                  <a:moveTo>
                    <a:pt x="3107690" y="0"/>
                  </a:moveTo>
                  <a:lnTo>
                    <a:pt x="133350" y="0"/>
                  </a:lnTo>
                  <a:cubicBezTo>
                    <a:pt x="59690" y="0"/>
                    <a:pt x="0" y="59690"/>
                    <a:pt x="0" y="133350"/>
                  </a:cubicBezTo>
                  <a:lnTo>
                    <a:pt x="0" y="5901690"/>
                  </a:lnTo>
                  <a:cubicBezTo>
                    <a:pt x="0" y="5975350"/>
                    <a:pt x="59690" y="6035040"/>
                    <a:pt x="133350" y="6035040"/>
                  </a:cubicBezTo>
                  <a:lnTo>
                    <a:pt x="3107690" y="6035040"/>
                  </a:lnTo>
                  <a:cubicBezTo>
                    <a:pt x="3181350" y="6035040"/>
                    <a:pt x="3241040" y="5975350"/>
                    <a:pt x="3241040" y="5901690"/>
                  </a:cubicBezTo>
                  <a:lnTo>
                    <a:pt x="3241040" y="133350"/>
                  </a:lnTo>
                  <a:cubicBezTo>
                    <a:pt x="3241040" y="59690"/>
                    <a:pt x="3181350" y="0"/>
                    <a:pt x="3107690" y="0"/>
                  </a:cubicBezTo>
                  <a:close/>
                  <a:moveTo>
                    <a:pt x="133350" y="12700"/>
                  </a:moveTo>
                  <a:lnTo>
                    <a:pt x="3107690" y="12700"/>
                  </a:lnTo>
                  <a:cubicBezTo>
                    <a:pt x="3173730" y="12700"/>
                    <a:pt x="3228340" y="67310"/>
                    <a:pt x="3228340" y="133350"/>
                  </a:cubicBezTo>
                  <a:lnTo>
                    <a:pt x="3228340" y="186690"/>
                  </a:lnTo>
                  <a:lnTo>
                    <a:pt x="12700" y="186690"/>
                  </a:lnTo>
                  <a:lnTo>
                    <a:pt x="12700" y="133350"/>
                  </a:lnTo>
                  <a:cubicBezTo>
                    <a:pt x="12700" y="67310"/>
                    <a:pt x="67310" y="12700"/>
                    <a:pt x="133350" y="12700"/>
                  </a:cubicBezTo>
                  <a:close/>
                  <a:moveTo>
                    <a:pt x="3107690" y="6022340"/>
                  </a:moveTo>
                  <a:lnTo>
                    <a:pt x="133350" y="6022340"/>
                  </a:lnTo>
                  <a:cubicBezTo>
                    <a:pt x="67310" y="6022340"/>
                    <a:pt x="12700" y="5967730"/>
                    <a:pt x="12700" y="5901690"/>
                  </a:cubicBezTo>
                  <a:lnTo>
                    <a:pt x="12700" y="199390"/>
                  </a:lnTo>
                  <a:lnTo>
                    <a:pt x="3228340" y="199390"/>
                  </a:lnTo>
                  <a:lnTo>
                    <a:pt x="3228340" y="5901690"/>
                  </a:lnTo>
                  <a:cubicBezTo>
                    <a:pt x="3228340" y="5969000"/>
                    <a:pt x="3175000" y="6022340"/>
                    <a:pt x="3107690" y="602234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1"/>
            <p:cNvSpPr/>
            <p:nvPr/>
          </p:nvSpPr>
          <p:spPr>
            <a:xfrm>
              <a:off x="149860" y="73660"/>
              <a:ext cx="299720" cy="63500"/>
            </a:xfrm>
            <a:custGeom>
              <a:rect b="b" l="l" r="r" t="t"/>
              <a:pathLst>
                <a:path extrusionOk="0" h="63500" w="299720">
                  <a:moveTo>
                    <a:pt x="118110" y="0"/>
                  </a:moveTo>
                  <a:lnTo>
                    <a:pt x="181610" y="0"/>
                  </a:lnTo>
                  <a:lnTo>
                    <a:pt x="181610" y="63500"/>
                  </a:lnTo>
                  <a:lnTo>
                    <a:pt x="118110" y="63500"/>
                  </a:lnTo>
                  <a:lnTo>
                    <a:pt x="118110" y="0"/>
                  </a:lnTo>
                  <a:close/>
                  <a:moveTo>
                    <a:pt x="31750" y="0"/>
                  </a:moveTo>
                  <a:cubicBezTo>
                    <a:pt x="49530" y="0"/>
                    <a:pt x="63500" y="13970"/>
                    <a:pt x="63500" y="31750"/>
                  </a:cubicBezTo>
                  <a:cubicBezTo>
                    <a:pt x="63500" y="49530"/>
                    <a:pt x="49530" y="63500"/>
                    <a:pt x="31750" y="63500"/>
                  </a:cubicBezTo>
                  <a:cubicBezTo>
                    <a:pt x="13970" y="63500"/>
                    <a:pt x="0" y="49530"/>
                    <a:pt x="0" y="31750"/>
                  </a:cubicBezTo>
                  <a:cubicBezTo>
                    <a:pt x="0" y="13970"/>
                    <a:pt x="13970" y="0"/>
                    <a:pt x="31750" y="0"/>
                  </a:cubicBezTo>
                  <a:close/>
                  <a:moveTo>
                    <a:pt x="267970" y="0"/>
                  </a:moveTo>
                  <a:lnTo>
                    <a:pt x="236220" y="63500"/>
                  </a:lnTo>
                  <a:lnTo>
                    <a:pt x="299720" y="63500"/>
                  </a:lnTo>
                  <a:lnTo>
                    <a:pt x="267970" y="0"/>
                  </a:lnTo>
                  <a:close/>
                </a:path>
              </a:pathLst>
            </a:custGeom>
            <a:solidFill>
              <a:srgbClr val="F8DB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1"/>
            <p:cNvSpPr/>
            <p:nvPr/>
          </p:nvSpPr>
          <p:spPr>
            <a:xfrm>
              <a:off x="591820" y="88900"/>
              <a:ext cx="2508250" cy="33020"/>
            </a:xfrm>
            <a:custGeom>
              <a:rect b="b" l="l" r="r" t="t"/>
              <a:pathLst>
                <a:path extrusionOk="0" h="33020" w="2508250">
                  <a:moveTo>
                    <a:pt x="2491740" y="33020"/>
                  </a:moveTo>
                  <a:lnTo>
                    <a:pt x="16510" y="33020"/>
                  </a:lnTo>
                  <a:cubicBezTo>
                    <a:pt x="7620" y="33020"/>
                    <a:pt x="0" y="25400"/>
                    <a:pt x="0" y="16510"/>
                  </a:cubicBezTo>
                  <a:lnTo>
                    <a:pt x="0" y="16510"/>
                  </a:lnTo>
                  <a:cubicBezTo>
                    <a:pt x="0" y="7620"/>
                    <a:pt x="7620" y="0"/>
                    <a:pt x="16510" y="0"/>
                  </a:cubicBezTo>
                  <a:lnTo>
                    <a:pt x="2491740" y="0"/>
                  </a:lnTo>
                  <a:cubicBezTo>
                    <a:pt x="2500630" y="0"/>
                    <a:pt x="2508250" y="7620"/>
                    <a:pt x="2508250" y="16510"/>
                  </a:cubicBezTo>
                  <a:lnTo>
                    <a:pt x="2508250" y="16510"/>
                  </a:lnTo>
                  <a:cubicBezTo>
                    <a:pt x="2506980" y="25400"/>
                    <a:pt x="2500630" y="33020"/>
                    <a:pt x="2491740" y="33020"/>
                  </a:cubicBezTo>
                  <a:close/>
                </a:path>
              </a:pathLst>
            </a:custGeom>
            <a:solidFill>
              <a:srgbClr val="F26D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4" name="Google Shape;284;p11"/>
          <p:cNvSpPr txBox="1"/>
          <p:nvPr/>
        </p:nvSpPr>
        <p:spPr>
          <a:xfrm>
            <a:off x="1028700" y="1540657"/>
            <a:ext cx="7656822" cy="424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99" u="none" cap="none" strike="noStrike">
                <a:solidFill>
                  <a:srgbClr val="01354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DEMOSTRACIÓN DEL RESULTADO DEL PROYECTO</a:t>
            </a:r>
            <a:endParaRPr/>
          </a:p>
          <a:p>
            <a:pPr indent="0" lvl="0" marL="0" marR="0" rtl="0" algn="l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499" u="none" cap="none" strike="noStrike">
              <a:solidFill>
                <a:srgbClr val="013542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grpSp>
        <p:nvGrpSpPr>
          <p:cNvPr id="285" name="Google Shape;285;p11"/>
          <p:cNvGrpSpPr/>
          <p:nvPr/>
        </p:nvGrpSpPr>
        <p:grpSpPr>
          <a:xfrm>
            <a:off x="0" y="9501750"/>
            <a:ext cx="18460219" cy="785674"/>
            <a:chOff x="0" y="0"/>
            <a:chExt cx="5085600" cy="206925"/>
          </a:xfrm>
        </p:grpSpPr>
        <p:sp>
          <p:nvSpPr>
            <p:cNvPr id="286" name="Google Shape;286;p11"/>
            <p:cNvSpPr/>
            <p:nvPr/>
          </p:nvSpPr>
          <p:spPr>
            <a:xfrm>
              <a:off x="0" y="0"/>
              <a:ext cx="5085584" cy="206814"/>
            </a:xfrm>
            <a:custGeom>
              <a:rect b="b" l="l" r="r" t="t"/>
              <a:pathLst>
                <a:path extrusionOk="0" h="206814" w="5085584">
                  <a:moveTo>
                    <a:pt x="0" y="0"/>
                  </a:moveTo>
                  <a:lnTo>
                    <a:pt x="5085584" y="0"/>
                  </a:lnTo>
                  <a:lnTo>
                    <a:pt x="5085584" y="206814"/>
                  </a:lnTo>
                  <a:lnTo>
                    <a:pt x="0" y="206814"/>
                  </a:lnTo>
                  <a:close/>
                </a:path>
              </a:pathLst>
            </a:custGeom>
            <a:solidFill>
              <a:srgbClr val="41CD57"/>
            </a:solidFill>
            <a:ln>
              <a:noFill/>
            </a:ln>
          </p:spPr>
        </p:sp>
        <p:sp>
          <p:nvSpPr>
            <p:cNvPr id="287" name="Google Shape;287;p11"/>
            <p:cNvSpPr txBox="1"/>
            <p:nvPr/>
          </p:nvSpPr>
          <p:spPr>
            <a:xfrm>
              <a:off x="0" y="9525"/>
              <a:ext cx="5085600" cy="1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99" u="none" cap="none" strike="noStrike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MONEDAVENTURA ::: 2025 :::</a:t>
              </a:r>
              <a:endParaRPr/>
            </a:p>
          </p:txBody>
        </p:sp>
      </p:grpSp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"/>
          <p:cNvSpPr/>
          <p:nvPr/>
        </p:nvSpPr>
        <p:spPr>
          <a:xfrm>
            <a:off x="15020978" y="346201"/>
            <a:ext cx="1812810" cy="2197345"/>
          </a:xfrm>
          <a:custGeom>
            <a:rect b="b" l="l" r="r" t="t"/>
            <a:pathLst>
              <a:path extrusionOk="0" h="2197345" w="1812810">
                <a:moveTo>
                  <a:pt x="0" y="0"/>
                </a:moveTo>
                <a:lnTo>
                  <a:pt x="1812810" y="0"/>
                </a:lnTo>
                <a:lnTo>
                  <a:pt x="1812810" y="2197345"/>
                </a:lnTo>
                <a:lnTo>
                  <a:pt x="0" y="21973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3" name="Google Shape;293;p12"/>
          <p:cNvGrpSpPr/>
          <p:nvPr/>
        </p:nvGrpSpPr>
        <p:grpSpPr>
          <a:xfrm>
            <a:off x="7114175" y="2995700"/>
            <a:ext cx="10221459" cy="6053864"/>
            <a:chOff x="0" y="0"/>
            <a:chExt cx="2890684" cy="1595011"/>
          </a:xfrm>
        </p:grpSpPr>
        <p:sp>
          <p:nvSpPr>
            <p:cNvPr id="294" name="Google Shape;294;p12"/>
            <p:cNvSpPr/>
            <p:nvPr/>
          </p:nvSpPr>
          <p:spPr>
            <a:xfrm>
              <a:off x="0" y="0"/>
              <a:ext cx="2890684" cy="1595011"/>
            </a:xfrm>
            <a:custGeom>
              <a:rect b="b" l="l" r="r" t="t"/>
              <a:pathLst>
                <a:path extrusionOk="0" h="1595011" w="2890684">
                  <a:moveTo>
                    <a:pt x="0" y="0"/>
                  </a:moveTo>
                  <a:lnTo>
                    <a:pt x="2890684" y="0"/>
                  </a:lnTo>
                  <a:lnTo>
                    <a:pt x="2890684" y="1595011"/>
                  </a:lnTo>
                  <a:lnTo>
                    <a:pt x="0" y="1595011"/>
                  </a:lnTo>
                  <a:close/>
                </a:path>
              </a:pathLst>
            </a:custGeom>
            <a:solidFill>
              <a:srgbClr val="41CD57"/>
            </a:solidFill>
            <a:ln cap="sq" cmpd="sng" w="19050">
              <a:solidFill>
                <a:srgbClr val="013542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95" name="Google Shape;295;p12"/>
            <p:cNvSpPr txBox="1"/>
            <p:nvPr/>
          </p:nvSpPr>
          <p:spPr>
            <a:xfrm>
              <a:off x="0" y="19050"/>
              <a:ext cx="2890684" cy="15759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6" name="Google Shape;296;p12"/>
          <p:cNvSpPr/>
          <p:nvPr/>
        </p:nvSpPr>
        <p:spPr>
          <a:xfrm>
            <a:off x="1573143" y="3605772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12"/>
          <p:cNvSpPr txBox="1"/>
          <p:nvPr/>
        </p:nvSpPr>
        <p:spPr>
          <a:xfrm>
            <a:off x="245345" y="403351"/>
            <a:ext cx="13943539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99" u="none" cap="none" strike="noStrike">
                <a:solidFill>
                  <a:srgbClr val="01354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Obstáculos presentados durante el desarrollo</a:t>
            </a:r>
            <a:endParaRPr/>
          </a:p>
        </p:txBody>
      </p:sp>
      <p:sp>
        <p:nvSpPr>
          <p:cNvPr id="298" name="Google Shape;298;p12"/>
          <p:cNvSpPr txBox="1"/>
          <p:nvPr/>
        </p:nvSpPr>
        <p:spPr>
          <a:xfrm>
            <a:off x="7379750" y="3209100"/>
            <a:ext cx="9816300" cy="56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0" lvl="1" marL="604519" marR="0" rtl="0" algn="just">
              <a:lnSpc>
                <a:spcPct val="1340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Dificultad inicial en sincronización entre frontend y backend.</a:t>
            </a:r>
            <a:endParaRPr/>
          </a:p>
          <a:p>
            <a:pPr indent="0" lvl="0" marL="0" marR="0" rtl="0" algn="just">
              <a:lnSpc>
                <a:spcPct val="134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2260" lvl="1" marL="604519" marR="0" rtl="0" algn="just">
              <a:lnSpc>
                <a:spcPct val="1340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Ajuste de mecánicas de juego a la edad objetivo.</a:t>
            </a:r>
            <a:endParaRPr/>
          </a:p>
          <a:p>
            <a:pPr indent="0" lvl="0" marL="0" marR="0" rtl="0" algn="just">
              <a:lnSpc>
                <a:spcPct val="134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2260" lvl="1" marL="604519" marR="0" rtl="0" algn="just">
              <a:lnSpc>
                <a:spcPct val="1340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Limitación de tiempo para desarrollo de niveles adicionales.</a:t>
            </a:r>
            <a:endParaRPr/>
          </a:p>
          <a:p>
            <a:pPr indent="0" lvl="0" marL="0" marR="0" rtl="0" algn="just">
              <a:lnSpc>
                <a:spcPct val="134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2260" lvl="1" marL="604519" marR="0" rtl="0" algn="just">
              <a:lnSpc>
                <a:spcPct val="1340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Revisión continua de consistencia pedagógica en la narrativa.</a:t>
            </a:r>
            <a:endParaRPr/>
          </a:p>
        </p:txBody>
      </p:sp>
      <p:grpSp>
        <p:nvGrpSpPr>
          <p:cNvPr id="299" name="Google Shape;299;p12"/>
          <p:cNvGrpSpPr/>
          <p:nvPr/>
        </p:nvGrpSpPr>
        <p:grpSpPr>
          <a:xfrm>
            <a:off x="0" y="9501750"/>
            <a:ext cx="18460219" cy="785674"/>
            <a:chOff x="0" y="0"/>
            <a:chExt cx="5085600" cy="206925"/>
          </a:xfrm>
        </p:grpSpPr>
        <p:sp>
          <p:nvSpPr>
            <p:cNvPr id="300" name="Google Shape;300;p12"/>
            <p:cNvSpPr/>
            <p:nvPr/>
          </p:nvSpPr>
          <p:spPr>
            <a:xfrm>
              <a:off x="0" y="0"/>
              <a:ext cx="5085584" cy="206814"/>
            </a:xfrm>
            <a:custGeom>
              <a:rect b="b" l="l" r="r" t="t"/>
              <a:pathLst>
                <a:path extrusionOk="0" h="206814" w="5085584">
                  <a:moveTo>
                    <a:pt x="0" y="0"/>
                  </a:moveTo>
                  <a:lnTo>
                    <a:pt x="5085584" y="0"/>
                  </a:lnTo>
                  <a:lnTo>
                    <a:pt x="5085584" y="206814"/>
                  </a:lnTo>
                  <a:lnTo>
                    <a:pt x="0" y="206814"/>
                  </a:lnTo>
                  <a:close/>
                </a:path>
              </a:pathLst>
            </a:custGeom>
            <a:solidFill>
              <a:srgbClr val="41CD57"/>
            </a:solidFill>
            <a:ln>
              <a:noFill/>
            </a:ln>
          </p:spPr>
        </p:sp>
        <p:sp>
          <p:nvSpPr>
            <p:cNvPr id="301" name="Google Shape;301;p12"/>
            <p:cNvSpPr txBox="1"/>
            <p:nvPr/>
          </p:nvSpPr>
          <p:spPr>
            <a:xfrm>
              <a:off x="0" y="9525"/>
              <a:ext cx="5085600" cy="1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99" u="none" cap="none" strike="noStrike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MONEDAVENTURA ::: 2025 :::</a:t>
              </a:r>
              <a:endParaRPr/>
            </a:p>
          </p:txBody>
        </p:sp>
      </p:grpSp>
    </p:spTree>
  </p:cSld>
  <p:clrMapOvr>
    <a:masterClrMapping/>
  </p:clrMapOvr>
  <p:transition spd="med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13"/>
          <p:cNvGrpSpPr/>
          <p:nvPr/>
        </p:nvGrpSpPr>
        <p:grpSpPr>
          <a:xfrm>
            <a:off x="-510663" y="9501752"/>
            <a:ext cx="19309326" cy="785248"/>
            <a:chOff x="0" y="0"/>
            <a:chExt cx="5085584" cy="206814"/>
          </a:xfrm>
        </p:grpSpPr>
        <p:sp>
          <p:nvSpPr>
            <p:cNvPr id="307" name="Google Shape;307;p13"/>
            <p:cNvSpPr/>
            <p:nvPr/>
          </p:nvSpPr>
          <p:spPr>
            <a:xfrm>
              <a:off x="0" y="0"/>
              <a:ext cx="5085584" cy="206814"/>
            </a:xfrm>
            <a:custGeom>
              <a:rect b="b" l="l" r="r" t="t"/>
              <a:pathLst>
                <a:path extrusionOk="0" h="206814" w="5085584">
                  <a:moveTo>
                    <a:pt x="0" y="0"/>
                  </a:moveTo>
                  <a:lnTo>
                    <a:pt x="5085584" y="0"/>
                  </a:lnTo>
                  <a:lnTo>
                    <a:pt x="5085584" y="206814"/>
                  </a:lnTo>
                  <a:lnTo>
                    <a:pt x="0" y="206814"/>
                  </a:lnTo>
                  <a:close/>
                </a:path>
              </a:pathLst>
            </a:custGeom>
            <a:solidFill>
              <a:srgbClr val="41CD57"/>
            </a:solidFill>
            <a:ln>
              <a:noFill/>
            </a:ln>
          </p:spPr>
        </p:sp>
        <p:sp>
          <p:nvSpPr>
            <p:cNvPr id="308" name="Google Shape;308;p13"/>
            <p:cNvSpPr txBox="1"/>
            <p:nvPr/>
          </p:nvSpPr>
          <p:spPr>
            <a:xfrm>
              <a:off x="0" y="9525"/>
              <a:ext cx="5085584" cy="197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99" u="none" cap="none" strike="noStrike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MONEDAVENTURA ::: 2025 :::</a:t>
              </a:r>
              <a:endParaRPr/>
            </a:p>
          </p:txBody>
        </p:sp>
      </p:grpSp>
      <p:grpSp>
        <p:nvGrpSpPr>
          <p:cNvPr id="309" name="Google Shape;309;p13"/>
          <p:cNvGrpSpPr/>
          <p:nvPr/>
        </p:nvGrpSpPr>
        <p:grpSpPr>
          <a:xfrm>
            <a:off x="0" y="0"/>
            <a:ext cx="7834492" cy="9501752"/>
            <a:chOff x="0" y="0"/>
            <a:chExt cx="2063405" cy="2502519"/>
          </a:xfrm>
        </p:grpSpPr>
        <p:sp>
          <p:nvSpPr>
            <p:cNvPr id="310" name="Google Shape;310;p13"/>
            <p:cNvSpPr/>
            <p:nvPr/>
          </p:nvSpPr>
          <p:spPr>
            <a:xfrm>
              <a:off x="0" y="0"/>
              <a:ext cx="2063405" cy="2502519"/>
            </a:xfrm>
            <a:custGeom>
              <a:rect b="b" l="l" r="r" t="t"/>
              <a:pathLst>
                <a:path extrusionOk="0" h="2502519" w="2063405">
                  <a:moveTo>
                    <a:pt x="0" y="0"/>
                  </a:moveTo>
                  <a:lnTo>
                    <a:pt x="2063405" y="0"/>
                  </a:lnTo>
                  <a:lnTo>
                    <a:pt x="2063405" y="2502519"/>
                  </a:lnTo>
                  <a:lnTo>
                    <a:pt x="0" y="2502519"/>
                  </a:lnTo>
                  <a:close/>
                </a:path>
              </a:pathLst>
            </a:custGeom>
            <a:solidFill>
              <a:srgbClr val="013542"/>
            </a:solidFill>
            <a:ln>
              <a:noFill/>
            </a:ln>
          </p:spPr>
        </p:sp>
        <p:sp>
          <p:nvSpPr>
            <p:cNvPr id="311" name="Google Shape;311;p13"/>
            <p:cNvSpPr txBox="1"/>
            <p:nvPr/>
          </p:nvSpPr>
          <p:spPr>
            <a:xfrm>
              <a:off x="0" y="9525"/>
              <a:ext cx="2063405" cy="24929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9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312" name="Google Shape;312;p13"/>
          <p:cNvGraphicFramePr/>
          <p:nvPr/>
        </p:nvGraphicFramePr>
        <p:xfrm>
          <a:off x="8760049" y="26256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{62CB9384-5609-4236-8647-3AE643B27037}</a:tableStyleId>
              </a:tblPr>
              <a:tblGrid>
                <a:gridCol w="8313400"/>
              </a:tblGrid>
              <a:tr h="561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99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1354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1354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1354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1354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B467"/>
                    </a:solidFill>
                  </a:tcPr>
                </a:tc>
              </a:tr>
            </a:tbl>
          </a:graphicData>
        </a:graphic>
      </p:graphicFrame>
      <p:sp>
        <p:nvSpPr>
          <p:cNvPr id="313" name="Google Shape;313;p13"/>
          <p:cNvSpPr/>
          <p:nvPr/>
        </p:nvSpPr>
        <p:spPr>
          <a:xfrm>
            <a:off x="1686037" y="4807277"/>
            <a:ext cx="3867912" cy="4114800"/>
          </a:xfrm>
          <a:custGeom>
            <a:rect b="b" l="l" r="r" t="t"/>
            <a:pathLst>
              <a:path extrusionOk="0" h="4114800" w="3867912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4" name="Google Shape;314;p13"/>
          <p:cNvSpPr txBox="1"/>
          <p:nvPr/>
        </p:nvSpPr>
        <p:spPr>
          <a:xfrm>
            <a:off x="0" y="2409015"/>
            <a:ext cx="7858299" cy="1546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99" u="none" cap="none" strike="noStrik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Conclusión </a:t>
            </a:r>
            <a:endParaRPr/>
          </a:p>
        </p:txBody>
      </p:sp>
      <p:sp>
        <p:nvSpPr>
          <p:cNvPr id="315" name="Google Shape;315;p13"/>
          <p:cNvSpPr txBox="1"/>
          <p:nvPr/>
        </p:nvSpPr>
        <p:spPr>
          <a:xfrm>
            <a:off x="9275189" y="2911378"/>
            <a:ext cx="7283100" cy="46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Monedaventura comprobó que la gamificación es una herramienta efectiva para enseñar educación financiera a niños. Se logró desarrollar 28 niveles funcionales con una base tecnológica sólida y una experiencia educativa alineada a la edad objetivo, pese a los desafíos técnicos y pedagógicos enfrentados.</a:t>
            </a:r>
            <a:endParaRPr/>
          </a:p>
        </p:txBody>
      </p:sp>
      <p:sp>
        <p:nvSpPr>
          <p:cNvPr id="316" name="Google Shape;316;p13"/>
          <p:cNvSpPr/>
          <p:nvPr/>
        </p:nvSpPr>
        <p:spPr>
          <a:xfrm>
            <a:off x="16393542" y="0"/>
            <a:ext cx="1763645" cy="2137752"/>
          </a:xfrm>
          <a:custGeom>
            <a:rect b="b" l="l" r="r" t="t"/>
            <a:pathLst>
              <a:path extrusionOk="0" h="2137752" w="1763645">
                <a:moveTo>
                  <a:pt x="0" y="0"/>
                </a:moveTo>
                <a:lnTo>
                  <a:pt x="1763646" y="0"/>
                </a:lnTo>
                <a:lnTo>
                  <a:pt x="1763646" y="2137752"/>
                </a:lnTo>
                <a:lnTo>
                  <a:pt x="0" y="2137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" name="Google Shape;321;p14"/>
          <p:cNvGrpSpPr/>
          <p:nvPr/>
        </p:nvGrpSpPr>
        <p:grpSpPr>
          <a:xfrm>
            <a:off x="-510663" y="9501752"/>
            <a:ext cx="19309326" cy="785248"/>
            <a:chOff x="0" y="0"/>
            <a:chExt cx="5085584" cy="206814"/>
          </a:xfrm>
        </p:grpSpPr>
        <p:sp>
          <p:nvSpPr>
            <p:cNvPr id="322" name="Google Shape;322;p14"/>
            <p:cNvSpPr/>
            <p:nvPr/>
          </p:nvSpPr>
          <p:spPr>
            <a:xfrm>
              <a:off x="0" y="0"/>
              <a:ext cx="5085584" cy="206814"/>
            </a:xfrm>
            <a:custGeom>
              <a:rect b="b" l="l" r="r" t="t"/>
              <a:pathLst>
                <a:path extrusionOk="0" h="206814" w="5085584">
                  <a:moveTo>
                    <a:pt x="0" y="0"/>
                  </a:moveTo>
                  <a:lnTo>
                    <a:pt x="5085584" y="0"/>
                  </a:lnTo>
                  <a:lnTo>
                    <a:pt x="5085584" y="206814"/>
                  </a:lnTo>
                  <a:lnTo>
                    <a:pt x="0" y="206814"/>
                  </a:lnTo>
                  <a:close/>
                </a:path>
              </a:pathLst>
            </a:custGeom>
            <a:solidFill>
              <a:srgbClr val="41CD57"/>
            </a:solidFill>
            <a:ln>
              <a:noFill/>
            </a:ln>
          </p:spPr>
        </p:sp>
        <p:sp>
          <p:nvSpPr>
            <p:cNvPr id="323" name="Google Shape;323;p14"/>
            <p:cNvSpPr txBox="1"/>
            <p:nvPr/>
          </p:nvSpPr>
          <p:spPr>
            <a:xfrm>
              <a:off x="0" y="9525"/>
              <a:ext cx="5085584" cy="197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99" u="none" cap="none" strike="noStrike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MONEDAVENTURA ::: 2025 :::</a:t>
              </a:r>
              <a:endParaRPr/>
            </a:p>
          </p:txBody>
        </p:sp>
      </p:grpSp>
      <p:grpSp>
        <p:nvGrpSpPr>
          <p:cNvPr id="324" name="Google Shape;324;p14"/>
          <p:cNvGrpSpPr/>
          <p:nvPr/>
        </p:nvGrpSpPr>
        <p:grpSpPr>
          <a:xfrm>
            <a:off x="9413538" y="0"/>
            <a:ext cx="9046392" cy="9501752"/>
            <a:chOff x="0" y="0"/>
            <a:chExt cx="2382589" cy="2502519"/>
          </a:xfrm>
        </p:grpSpPr>
        <p:sp>
          <p:nvSpPr>
            <p:cNvPr id="325" name="Google Shape;325;p14"/>
            <p:cNvSpPr/>
            <p:nvPr/>
          </p:nvSpPr>
          <p:spPr>
            <a:xfrm>
              <a:off x="0" y="0"/>
              <a:ext cx="2382589" cy="2502519"/>
            </a:xfrm>
            <a:custGeom>
              <a:rect b="b" l="l" r="r" t="t"/>
              <a:pathLst>
                <a:path extrusionOk="0" h="2502519" w="2382589">
                  <a:moveTo>
                    <a:pt x="0" y="0"/>
                  </a:moveTo>
                  <a:lnTo>
                    <a:pt x="2382589" y="0"/>
                  </a:lnTo>
                  <a:lnTo>
                    <a:pt x="2382589" y="2502519"/>
                  </a:lnTo>
                  <a:lnTo>
                    <a:pt x="0" y="2502519"/>
                  </a:lnTo>
                  <a:close/>
                </a:path>
              </a:pathLst>
            </a:custGeom>
            <a:solidFill>
              <a:srgbClr val="013542"/>
            </a:solidFill>
            <a:ln>
              <a:noFill/>
            </a:ln>
          </p:spPr>
        </p:sp>
        <p:sp>
          <p:nvSpPr>
            <p:cNvPr id="326" name="Google Shape;326;p14"/>
            <p:cNvSpPr txBox="1"/>
            <p:nvPr/>
          </p:nvSpPr>
          <p:spPr>
            <a:xfrm>
              <a:off x="0" y="9525"/>
              <a:ext cx="2382589" cy="24929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9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327" name="Google Shape;327;p14"/>
          <p:cNvGraphicFramePr/>
          <p:nvPr/>
        </p:nvGraphicFramePr>
        <p:xfrm>
          <a:off x="700252" y="22285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{62CB9384-5609-4236-8647-3AE643B27037}</a:tableStyleId>
              </a:tblPr>
              <a:tblGrid>
                <a:gridCol w="7743500"/>
              </a:tblGrid>
              <a:tr h="600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87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82700" marB="182700" marR="182700" marL="182700" anchor="ctr">
                    <a:lnL cap="flat" cmpd="sng" w="17500">
                      <a:solidFill>
                        <a:srgbClr val="01354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7500">
                      <a:solidFill>
                        <a:srgbClr val="01354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7500">
                      <a:solidFill>
                        <a:srgbClr val="01354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7500">
                      <a:solidFill>
                        <a:srgbClr val="01354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B467"/>
                    </a:solidFill>
                  </a:tcPr>
                </a:tc>
              </a:tr>
            </a:tbl>
          </a:graphicData>
        </a:graphic>
      </p:graphicFrame>
      <p:sp>
        <p:nvSpPr>
          <p:cNvPr id="328" name="Google Shape;328;p14"/>
          <p:cNvSpPr/>
          <p:nvPr/>
        </p:nvSpPr>
        <p:spPr>
          <a:xfrm>
            <a:off x="11398708" y="4886766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9" name="Google Shape;329;p14"/>
          <p:cNvSpPr txBox="1"/>
          <p:nvPr/>
        </p:nvSpPr>
        <p:spPr>
          <a:xfrm>
            <a:off x="9753930" y="1593473"/>
            <a:ext cx="8365606" cy="3061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99" u="none" cap="none" strike="noStrik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Expectativa del proyecto</a:t>
            </a:r>
            <a:endParaRPr/>
          </a:p>
        </p:txBody>
      </p:sp>
      <p:sp>
        <p:nvSpPr>
          <p:cNvPr id="330" name="Google Shape;330;p14"/>
          <p:cNvSpPr txBox="1"/>
          <p:nvPr/>
        </p:nvSpPr>
        <p:spPr>
          <a:xfrm>
            <a:off x="1077000" y="2773200"/>
            <a:ext cx="6919500" cy="49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65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 proyecta continuar ampliando niveles, mecánicas y recursos pedagógicos, para transformar Monedaventura en una plataforma educativa completa que pueda ser implementada en colegios y contribuir al desarrollo de habilidades financieras en niños a nivel nacional.</a:t>
            </a:r>
            <a:endParaRPr/>
          </a:p>
        </p:txBody>
      </p:sp>
      <p:sp>
        <p:nvSpPr>
          <p:cNvPr id="331" name="Google Shape;331;p14"/>
          <p:cNvSpPr/>
          <p:nvPr/>
        </p:nvSpPr>
        <p:spPr>
          <a:xfrm>
            <a:off x="0" y="0"/>
            <a:ext cx="1888652" cy="2008727"/>
          </a:xfrm>
          <a:custGeom>
            <a:rect b="b" l="l" r="r" t="t"/>
            <a:pathLst>
              <a:path extrusionOk="0" h="2244388" w="1851620">
                <a:moveTo>
                  <a:pt x="0" y="0"/>
                </a:moveTo>
                <a:lnTo>
                  <a:pt x="1851620" y="0"/>
                </a:lnTo>
                <a:lnTo>
                  <a:pt x="1851620" y="2244388"/>
                </a:lnTo>
                <a:lnTo>
                  <a:pt x="0" y="22443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med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3542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5"/>
          <p:cNvSpPr/>
          <p:nvPr/>
        </p:nvSpPr>
        <p:spPr>
          <a:xfrm>
            <a:off x="-201813" y="6592366"/>
            <a:ext cx="18948733" cy="3790871"/>
          </a:xfrm>
          <a:custGeom>
            <a:rect b="b" l="l" r="r" t="t"/>
            <a:pathLst>
              <a:path extrusionOk="0" h="162608" w="812800">
                <a:moveTo>
                  <a:pt x="0" y="0"/>
                </a:moveTo>
                <a:lnTo>
                  <a:pt x="812800" y="0"/>
                </a:lnTo>
                <a:lnTo>
                  <a:pt x="812800" y="162608"/>
                </a:lnTo>
                <a:lnTo>
                  <a:pt x="0" y="162608"/>
                </a:lnTo>
                <a:close/>
              </a:path>
            </a:pathLst>
          </a:custGeom>
          <a:blipFill rotWithShape="1">
            <a:blip r:embed="rId3">
              <a:alphaModFix amt="44999"/>
            </a:blip>
            <a:stretch>
              <a:fillRect b="-11662" l="0" r="0" t="-221548"/>
            </a:stretch>
          </a:blipFill>
          <a:ln>
            <a:noFill/>
          </a:ln>
        </p:spPr>
      </p:sp>
      <p:sp>
        <p:nvSpPr>
          <p:cNvPr id="337" name="Google Shape;337;p15"/>
          <p:cNvSpPr txBox="1"/>
          <p:nvPr/>
        </p:nvSpPr>
        <p:spPr>
          <a:xfrm>
            <a:off x="2148778" y="2926337"/>
            <a:ext cx="13990443" cy="287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9" u="none" cap="none" strike="noStrik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Gracias por tu atención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